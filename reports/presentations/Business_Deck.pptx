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fraud ($M)</c:v>
                </c:pt>
              </c:strCache>
            </c:strRef>
          </c:tx>
          <c:spPr>
            <a:solidFill>
              <a:srgbClr val="D64550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22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9D6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Exposure today</c:v>
                  </c:pt>
                  <c:pt idx="1">
                    <c:v>Residual with model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2.2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22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2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Fighting Transaction Fraud with Machine Learning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case, the risks, and a recommendation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·  Johann Malto  ·  October 5, 2026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235440" y="192024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6" name="Shape 4"/>
          <p:cNvSpPr/>
          <p:nvPr/>
        </p:nvSpPr>
        <p:spPr>
          <a:xfrm>
            <a:off x="9482328" y="192024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7" name="Shape 5"/>
          <p:cNvSpPr/>
          <p:nvPr/>
        </p:nvSpPr>
        <p:spPr>
          <a:xfrm>
            <a:off x="9729216" y="192024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8" name="Shape 6"/>
          <p:cNvSpPr/>
          <p:nvPr/>
        </p:nvSpPr>
        <p:spPr>
          <a:xfrm>
            <a:off x="9976104" y="192024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9" name="Shape 7"/>
          <p:cNvSpPr/>
          <p:nvPr/>
        </p:nvSpPr>
        <p:spPr>
          <a:xfrm>
            <a:off x="10222992" y="192024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10" name="Shape 8"/>
          <p:cNvSpPr/>
          <p:nvPr/>
        </p:nvSpPr>
        <p:spPr>
          <a:xfrm>
            <a:off x="10469880" y="192024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11" name="Shape 9"/>
          <p:cNvSpPr/>
          <p:nvPr/>
        </p:nvSpPr>
        <p:spPr>
          <a:xfrm>
            <a:off x="10716768" y="192024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63656" y="192024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10544" y="192024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14" name="Shape 12"/>
          <p:cNvSpPr/>
          <p:nvPr/>
        </p:nvSpPr>
        <p:spPr>
          <a:xfrm>
            <a:off x="9235440" y="2167128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15" name="Shape 13"/>
          <p:cNvSpPr/>
          <p:nvPr/>
        </p:nvSpPr>
        <p:spPr>
          <a:xfrm>
            <a:off x="9482328" y="2167128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16" name="Shape 14"/>
          <p:cNvSpPr/>
          <p:nvPr/>
        </p:nvSpPr>
        <p:spPr>
          <a:xfrm>
            <a:off x="9729216" y="2167128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17" name="Shape 15"/>
          <p:cNvSpPr/>
          <p:nvPr/>
        </p:nvSpPr>
        <p:spPr>
          <a:xfrm>
            <a:off x="9976104" y="2167128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22992" y="2167128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69880" y="2167128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16768" y="2167128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63656" y="2167128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10544" y="2167128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23" name="Shape 21"/>
          <p:cNvSpPr/>
          <p:nvPr/>
        </p:nvSpPr>
        <p:spPr>
          <a:xfrm>
            <a:off x="9235440" y="241401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24" name="Shape 22"/>
          <p:cNvSpPr/>
          <p:nvPr/>
        </p:nvSpPr>
        <p:spPr>
          <a:xfrm>
            <a:off x="9482328" y="241401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25" name="Shape 23"/>
          <p:cNvSpPr/>
          <p:nvPr/>
        </p:nvSpPr>
        <p:spPr>
          <a:xfrm>
            <a:off x="9729216" y="241401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26" name="Shape 24"/>
          <p:cNvSpPr/>
          <p:nvPr/>
        </p:nvSpPr>
        <p:spPr>
          <a:xfrm>
            <a:off x="9976104" y="241401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22992" y="241401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469880" y="241401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716768" y="241401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63656" y="241401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10544" y="241401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32" name="Shape 30"/>
          <p:cNvSpPr/>
          <p:nvPr/>
        </p:nvSpPr>
        <p:spPr>
          <a:xfrm>
            <a:off x="9235440" y="2660904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33" name="Shape 31"/>
          <p:cNvSpPr/>
          <p:nvPr/>
        </p:nvSpPr>
        <p:spPr>
          <a:xfrm>
            <a:off x="9482328" y="2660904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34" name="Shape 32"/>
          <p:cNvSpPr/>
          <p:nvPr/>
        </p:nvSpPr>
        <p:spPr>
          <a:xfrm>
            <a:off x="9729216" y="2660904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35" name="Shape 33"/>
          <p:cNvSpPr/>
          <p:nvPr/>
        </p:nvSpPr>
        <p:spPr>
          <a:xfrm>
            <a:off x="9976104" y="2660904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36" name="Shape 34"/>
          <p:cNvSpPr/>
          <p:nvPr/>
        </p:nvSpPr>
        <p:spPr>
          <a:xfrm>
            <a:off x="10222992" y="2660904"/>
            <a:ext cx="137160" cy="137160"/>
          </a:xfrm>
          <a:prstGeom prst="ellipse">
            <a:avLst/>
          </a:prstGeom>
          <a:solidFill>
            <a:srgbClr val="C79A3B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69880" y="2660904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716768" y="2660904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63656" y="2660904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40" name="Shape 38"/>
          <p:cNvSpPr/>
          <p:nvPr/>
        </p:nvSpPr>
        <p:spPr>
          <a:xfrm>
            <a:off x="11210544" y="2660904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41" name="Shape 39"/>
          <p:cNvSpPr/>
          <p:nvPr/>
        </p:nvSpPr>
        <p:spPr>
          <a:xfrm>
            <a:off x="9235440" y="2907792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42" name="Shape 40"/>
          <p:cNvSpPr/>
          <p:nvPr/>
        </p:nvSpPr>
        <p:spPr>
          <a:xfrm>
            <a:off x="9482328" y="2907792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43" name="Shape 41"/>
          <p:cNvSpPr/>
          <p:nvPr/>
        </p:nvSpPr>
        <p:spPr>
          <a:xfrm>
            <a:off x="9729216" y="2907792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44" name="Shape 42"/>
          <p:cNvSpPr/>
          <p:nvPr/>
        </p:nvSpPr>
        <p:spPr>
          <a:xfrm>
            <a:off x="9976104" y="2907792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45" name="Shape 43"/>
          <p:cNvSpPr/>
          <p:nvPr/>
        </p:nvSpPr>
        <p:spPr>
          <a:xfrm>
            <a:off x="10222992" y="2907792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46" name="Shape 44"/>
          <p:cNvSpPr/>
          <p:nvPr/>
        </p:nvSpPr>
        <p:spPr>
          <a:xfrm>
            <a:off x="10469880" y="2907792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716768" y="2907792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48" name="Shape 46"/>
          <p:cNvSpPr/>
          <p:nvPr/>
        </p:nvSpPr>
        <p:spPr>
          <a:xfrm>
            <a:off x="10963656" y="2907792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10544" y="2907792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50" name="Shape 48"/>
          <p:cNvSpPr/>
          <p:nvPr/>
        </p:nvSpPr>
        <p:spPr>
          <a:xfrm>
            <a:off x="9235440" y="315468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51" name="Shape 49"/>
          <p:cNvSpPr/>
          <p:nvPr/>
        </p:nvSpPr>
        <p:spPr>
          <a:xfrm>
            <a:off x="9482328" y="315468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52" name="Shape 50"/>
          <p:cNvSpPr/>
          <p:nvPr/>
        </p:nvSpPr>
        <p:spPr>
          <a:xfrm>
            <a:off x="9729216" y="315468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53" name="Shape 51"/>
          <p:cNvSpPr/>
          <p:nvPr/>
        </p:nvSpPr>
        <p:spPr>
          <a:xfrm>
            <a:off x="9976104" y="315468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54" name="Shape 52"/>
          <p:cNvSpPr/>
          <p:nvPr/>
        </p:nvSpPr>
        <p:spPr>
          <a:xfrm>
            <a:off x="10222992" y="315468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55" name="Shape 53"/>
          <p:cNvSpPr/>
          <p:nvPr/>
        </p:nvSpPr>
        <p:spPr>
          <a:xfrm>
            <a:off x="10469880" y="315468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56" name="Shape 54"/>
          <p:cNvSpPr/>
          <p:nvPr/>
        </p:nvSpPr>
        <p:spPr>
          <a:xfrm>
            <a:off x="10716768" y="315468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57" name="Shape 55"/>
          <p:cNvSpPr/>
          <p:nvPr/>
        </p:nvSpPr>
        <p:spPr>
          <a:xfrm>
            <a:off x="10963656" y="315468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58" name="Shape 56"/>
          <p:cNvSpPr/>
          <p:nvPr/>
        </p:nvSpPr>
        <p:spPr>
          <a:xfrm>
            <a:off x="11210544" y="3154680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59" name="Shape 57"/>
          <p:cNvSpPr/>
          <p:nvPr/>
        </p:nvSpPr>
        <p:spPr>
          <a:xfrm>
            <a:off x="9235440" y="3401568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60" name="Shape 58"/>
          <p:cNvSpPr/>
          <p:nvPr/>
        </p:nvSpPr>
        <p:spPr>
          <a:xfrm>
            <a:off x="9482328" y="3401568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61" name="Shape 59"/>
          <p:cNvSpPr/>
          <p:nvPr/>
        </p:nvSpPr>
        <p:spPr>
          <a:xfrm>
            <a:off x="9729216" y="3401568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62" name="Shape 60"/>
          <p:cNvSpPr/>
          <p:nvPr/>
        </p:nvSpPr>
        <p:spPr>
          <a:xfrm>
            <a:off x="9976104" y="3401568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63" name="Shape 61"/>
          <p:cNvSpPr/>
          <p:nvPr/>
        </p:nvSpPr>
        <p:spPr>
          <a:xfrm>
            <a:off x="10222992" y="3401568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64" name="Shape 62"/>
          <p:cNvSpPr/>
          <p:nvPr/>
        </p:nvSpPr>
        <p:spPr>
          <a:xfrm>
            <a:off x="10469880" y="3401568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65" name="Shape 63"/>
          <p:cNvSpPr/>
          <p:nvPr/>
        </p:nvSpPr>
        <p:spPr>
          <a:xfrm>
            <a:off x="10716768" y="3401568"/>
            <a:ext cx="137160" cy="137160"/>
          </a:xfrm>
          <a:prstGeom prst="ellipse">
            <a:avLst/>
          </a:prstGeom>
          <a:solidFill>
            <a:srgbClr val="C79A3B"/>
          </a:solidFill>
          <a:ln/>
        </p:spPr>
      </p:sp>
      <p:sp>
        <p:nvSpPr>
          <p:cNvPr id="66" name="Shape 64"/>
          <p:cNvSpPr/>
          <p:nvPr/>
        </p:nvSpPr>
        <p:spPr>
          <a:xfrm>
            <a:off x="10963656" y="3401568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67" name="Shape 65"/>
          <p:cNvSpPr/>
          <p:nvPr/>
        </p:nvSpPr>
        <p:spPr>
          <a:xfrm>
            <a:off x="11210544" y="3401568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68" name="Shape 66"/>
          <p:cNvSpPr/>
          <p:nvPr/>
        </p:nvSpPr>
        <p:spPr>
          <a:xfrm>
            <a:off x="9235440" y="364845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69" name="Shape 67"/>
          <p:cNvSpPr/>
          <p:nvPr/>
        </p:nvSpPr>
        <p:spPr>
          <a:xfrm>
            <a:off x="9482328" y="364845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70" name="Shape 68"/>
          <p:cNvSpPr/>
          <p:nvPr/>
        </p:nvSpPr>
        <p:spPr>
          <a:xfrm>
            <a:off x="9729216" y="364845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71" name="Shape 69"/>
          <p:cNvSpPr/>
          <p:nvPr/>
        </p:nvSpPr>
        <p:spPr>
          <a:xfrm>
            <a:off x="9976104" y="364845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72" name="Shape 70"/>
          <p:cNvSpPr/>
          <p:nvPr/>
        </p:nvSpPr>
        <p:spPr>
          <a:xfrm>
            <a:off x="10222992" y="364845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73" name="Shape 71"/>
          <p:cNvSpPr/>
          <p:nvPr/>
        </p:nvSpPr>
        <p:spPr>
          <a:xfrm>
            <a:off x="10469880" y="364845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74" name="Shape 72"/>
          <p:cNvSpPr/>
          <p:nvPr/>
        </p:nvSpPr>
        <p:spPr>
          <a:xfrm>
            <a:off x="10716768" y="364845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75" name="Shape 73"/>
          <p:cNvSpPr/>
          <p:nvPr/>
        </p:nvSpPr>
        <p:spPr>
          <a:xfrm>
            <a:off x="10963656" y="364845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76" name="Shape 74"/>
          <p:cNvSpPr/>
          <p:nvPr/>
        </p:nvSpPr>
        <p:spPr>
          <a:xfrm>
            <a:off x="11210544" y="3648456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77" name="Shape 75"/>
          <p:cNvSpPr/>
          <p:nvPr/>
        </p:nvSpPr>
        <p:spPr>
          <a:xfrm>
            <a:off x="9235440" y="3895344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78" name="Shape 76"/>
          <p:cNvSpPr/>
          <p:nvPr/>
        </p:nvSpPr>
        <p:spPr>
          <a:xfrm>
            <a:off x="9482328" y="3895344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79" name="Shape 77"/>
          <p:cNvSpPr/>
          <p:nvPr/>
        </p:nvSpPr>
        <p:spPr>
          <a:xfrm>
            <a:off x="9729216" y="3895344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80" name="Shape 78"/>
          <p:cNvSpPr/>
          <p:nvPr/>
        </p:nvSpPr>
        <p:spPr>
          <a:xfrm>
            <a:off x="9976104" y="3895344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81" name="Shape 79"/>
          <p:cNvSpPr/>
          <p:nvPr/>
        </p:nvSpPr>
        <p:spPr>
          <a:xfrm>
            <a:off x="10222992" y="3895344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82" name="Shape 80"/>
          <p:cNvSpPr/>
          <p:nvPr/>
        </p:nvSpPr>
        <p:spPr>
          <a:xfrm>
            <a:off x="10469880" y="3895344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83" name="Shape 81"/>
          <p:cNvSpPr/>
          <p:nvPr/>
        </p:nvSpPr>
        <p:spPr>
          <a:xfrm>
            <a:off x="10716768" y="3895344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84" name="Shape 82"/>
          <p:cNvSpPr/>
          <p:nvPr/>
        </p:nvSpPr>
        <p:spPr>
          <a:xfrm>
            <a:off x="10963656" y="3895344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85" name="Shape 83"/>
          <p:cNvSpPr/>
          <p:nvPr/>
        </p:nvSpPr>
        <p:spPr>
          <a:xfrm>
            <a:off x="11210544" y="3895344"/>
            <a:ext cx="137160" cy="137160"/>
          </a:xfrm>
          <a:prstGeom prst="ellipse">
            <a:avLst/>
          </a:prstGeom>
          <a:solidFill>
            <a:srgbClr val="33407A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 ·  Business Case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costs us twice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fraudulent transaction is a direct loss. But every legitimate transaction we wrongly block costs us a frustrated customer — and sometimes their future business.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AAB4BF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487168"/>
            <a:ext cx="3520440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$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529584"/>
            <a:ext cx="3300984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we fail to catch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23774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AAB4BF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15968" y="2487168"/>
            <a:ext cx="3520440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trust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425696" y="3529584"/>
            <a:ext cx="3300984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wrongly declined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92440" y="23774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AAB4BF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92440" y="2487168"/>
            <a:ext cx="3520440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time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202168" y="3529584"/>
            <a:ext cx="3300984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workload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63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balance: catch as much fraud as possible without punishing good customers.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 ·  Business Case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scores the fraud risk of every transaction in real time — so high-risk payments can be held or reviewed, and the rest flow through untouched.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2F5FC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2697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is attempted.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90672" y="32004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56432" y="246888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2F5FC"/>
          </a:solidFill>
          <a:ln/>
        </p:spPr>
      </p:sp>
      <p:sp>
        <p:nvSpPr>
          <p:cNvPr id="11" name="Shape 9"/>
          <p:cNvSpPr/>
          <p:nvPr/>
        </p:nvSpPr>
        <p:spPr>
          <a:xfrm>
            <a:off x="4462272" y="2697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62272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rates it 0–100%.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98464" y="32004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64224" y="246888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2F5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370064" y="2697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70064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501384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47104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Allow, review, or block.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06256" y="32004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272016" y="246888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F2F5F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77856" y="2697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277856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409176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454896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retrain the model.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 ·  Business Case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well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AAB4BF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664208"/>
            <a:ext cx="3520440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706624"/>
            <a:ext cx="3300984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 caught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15968" y="15544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AAB4BF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315968" y="1664208"/>
            <a:ext cx="3520440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 10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425696" y="2706624"/>
            <a:ext cx="3300984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are genuine fraud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83296" y="15544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AAB4BF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83296" y="1664208"/>
            <a:ext cx="3520440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193024" y="2706624"/>
            <a:ext cx="3300984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in milliseconds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02336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roughly every 100 fraud attempts, the model stops about 78 of them — while flagging only a tiny fraction of good customers for a quick review (9 in 10 of its flags are real fraud). That is a dramatic improvement over rule-based checks.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69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held-out test set (Step 4 results).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 ·  Business Case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financial impact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64592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AAB4BF">
                <a:alpha val="3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589520" y="1755648"/>
            <a:ext cx="4023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$7.8M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699248" y="2743200"/>
            <a:ext cx="3803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prevented per year (illustrative)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365760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your real annual fraud exposure and the model’s catch rate. Net benefit = fraud prevented − review costs − false-decline costs.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assumptions — replace with finance’s figures before presenting.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 ·  Business Case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2F5F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C79A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declines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good customers creates friction. Mitigated by tuning and human review of borderline cases.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5968" y="15544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2F5FC"/>
          </a:solidFill>
          <a:ln/>
        </p:spPr>
      </p:sp>
      <p:sp>
        <p:nvSpPr>
          <p:cNvPr id="9" name="Shape 7"/>
          <p:cNvSpPr/>
          <p:nvPr/>
        </p:nvSpPr>
        <p:spPr>
          <a:xfrm>
            <a:off x="4590288" y="182880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028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blind spot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9260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demographic data means we cannot yet prove the model treats all groups fairly.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83296" y="15544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2F5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357616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576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9260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patterns evolve; performance decays without monitoring and retraining.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 ·  Business Case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&amp; ethics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002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checked — and found a governance gap.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holds no gender, race, or age, so we cannot currently prove the model is fair across protected groups. We report this openly rather than assume fairness.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2F5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319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lawful, consented attributes to enable a real audit.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15968" y="32004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2F5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0288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39319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outcomes across groups with standard fairness metrics.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83296" y="320040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2F5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57616" y="3429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357616" y="39319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group flag-rates in production and act on drift.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 ·  Business Case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&amp;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52144" y="1517904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1828800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alongside current checks; compare, no customer impact.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0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729984" y="1517904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review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729984" y="1828800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only high-risk flags to analysts.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3118104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3429000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clear cases; keep humans on the edge.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31546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729984" y="3118104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improve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729984" y="3429000"/>
            <a:ext cx="4791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$ saved, fairness, and drift.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F9D6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956048"/>
            <a:ext cx="10332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proceed to a shadow-mode pilot with a fixed success threshold in fraud $ prevented.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 ·  Business Case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catches the large majority of fraud is ready to pilot.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gap is fairness governance — solvable with consented data and monitoring.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approve a shadow-mode pilot and the data-governance work to support it.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Detection — Business Case</dc:title>
  <dc:subject>PptxGenJS Presentation</dc:subject>
  <dc:creator>Capstone</dc:creator>
  <cp:lastModifiedBy>Capstone</cp:lastModifiedBy>
  <cp:revision>1</cp:revision>
  <dcterms:created xsi:type="dcterms:W3CDTF">2026-10-04T20:04:34Z</dcterms:created>
  <dcterms:modified xsi:type="dcterms:W3CDTF">2026-10-04T20:04:34Z</dcterms:modified>
</cp:coreProperties>
</file>