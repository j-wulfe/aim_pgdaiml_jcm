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AUC-PR</c:v>
                </c:pt>
              </c:strCache>
            </c:strRef>
          </c:tx>
          <c:spPr>
            <a:solidFill>
              <a:srgbClr val="1C7293"/>
            </a:solidFill>
            <a:effectLst/>
          </c:spPr>
          <c:invertIfNegative val="0"/>
          <c:dLbls>
            <c:numFmt formatCode="0.00" sourceLinked="0"/>
            <c:txPr>
              <a:bodyPr/>
              <a:lstStyle/>
              <a:p>
                <a:pPr>
                  <a:defRPr b="0" i="0" strike="noStrike" sz="1200" u="none">
                    <a:solidFill>
                      <a:srgbClr val="0A2540"/>
                    </a:solidFill>
                    <a:latin typeface="+mn-lt"/>
                  </a:defRPr>
                </a:pPr>
              </a:p>
            </c:txPr>
            <c:showLegendKey val="0"/>
            <c:showVal val="1"/>
            <c:showCatName val="0"/>
            <c:showSerName val="0"/>
            <c:showPercent val="0"/>
            <c:showBubbleSize val="0"/>
            <c:showLeaderLines val="0"/>
          </c:dLbls>
          <c:cat>
            <c:multiLvlStrRef>
              <c:f>Sheet1!$A$2:$A$6</c:f>
              <c:multiLvlStrCache>
                <c:ptCount val="5"/>
                <c:lvl>
                  <c:pt idx="0">
                    <c:v>XGBoost</c:v>
                  </c:pt>
                  <c:pt idx="1">
                    <c:v>Random Forest</c:v>
                  </c:pt>
                  <c:pt idx="2">
                    <c:v>Logistic Reg.</c:v>
                  </c:pt>
                  <c:pt idx="3">
                    <c:v>Decision Tree</c:v>
                  </c:pt>
                  <c:pt idx="4">
                    <c:v>Isolation Forest</c:v>
                  </c:pt>
                </c:lvl>
              </c:multiLvlStrCache>
            </c:multiLvlStrRef>
          </c:cat>
          <c:val>
            <c:numRef>
              <c:f>Sheet1!$B$2:$B$6</c:f>
              <c:numCache>
                <c:formatCode>General</c:formatCode>
                <c:ptCount val="5"/>
                <c:pt idx="0">
                  <c:v>0.82</c:v>
                </c:pt>
                <c:pt idx="1">
                  <c:v>0.79</c:v>
                </c:pt>
                <c:pt idx="2">
                  <c:v>0.68</c:v>
                </c:pt>
                <c:pt idx="3">
                  <c:v>0.5</c:v>
                </c:pt>
                <c:pt idx="4">
                  <c:v>0.11</c:v>
                </c:pt>
              </c:numCache>
            </c:numRef>
          </c:val>
        </c:ser>
        <c:dLbls>
          <c:numFmt formatCode="0.00" sourceLinked="0"/>
          <c:txPr>
            <a:bodyPr/>
            <a:lstStyle/>
            <a:p>
              <a:pPr>
                <a:defRPr b="0" i="0" strike="noStrike" sz="1200" u="none">
                  <a:solidFill>
                    <a:srgbClr val="0A254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A2540"/>
                </a:solidFill>
                <a:latin typeface="+mn-lt"/>
              </a:defRPr>
            </a:pPr>
            <a:endParaRPr lang="en-US"/>
          </a:p>
        </c:txPr>
        <c:crossAx val="2094734552"/>
        <c:crosses val="autoZero"/>
        <c:auto val="1"/>
        <c:lblAlgn val="ctr"/>
        <c:noMultiLvlLbl val="1"/>
      </c:catAx>
      <c:valAx>
        <c:axId val="2094734552"/>
        <c:scaling>
          <c:orientation val="minMax"/>
          <c:max val="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Text 0"/>
          <p:cNvSpPr txBox="1"/>
          <p:nvPr/>
        </p:nvSpPr>
        <p:spPr>
          <a:xfrm>
            <a:off x="640080" y="2011680"/>
            <a:ext cx="8412480" cy="12801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Detecting Fraudulent Transactions</a:t>
            </a:r>
            <a:endParaRPr lang="en-US" sz="4000" dirty="0"/>
          </a:p>
        </p:txBody>
      </p:sp>
      <p:sp>
        <p:nvSpPr>
          <p:cNvPr id="3" name="Text 1"/>
          <p:cNvSpPr txBox="1"/>
          <p:nvPr/>
        </p:nvSpPr>
        <p:spPr>
          <a:xfrm>
            <a:off x="658368" y="3246120"/>
            <a:ext cx="8229600" cy="548640"/>
          </a:xfrm>
          <a:prstGeom prst="rect">
            <a:avLst/>
          </a:prstGeom>
          <a:noFill/>
          <a:ln/>
        </p:spPr>
        <p:txBody>
          <a:bodyPr wrap="square" lIns="0" tIns="0" rIns="0" bIns="0" rtlCol="0" anchor="ctr"/>
          <a:lstStyle/>
          <a:p>
            <a:pPr indent="0" marL="0">
              <a:buNone/>
            </a:pPr>
            <a:r>
              <a:rPr lang="en-US" sz="1800" dirty="0">
                <a:solidFill>
                  <a:srgbClr val="9FC6D8"/>
                </a:solidFill>
                <a:latin typeface="Calibri" pitchFamily="34" charset="0"/>
                <a:ea typeface="Calibri" pitchFamily="34" charset="-122"/>
                <a:cs typeface="Calibri" pitchFamily="34" charset="-120"/>
              </a:rPr>
              <a:t>A machine-learning pipeline for extreme class imbalance</a:t>
            </a:r>
            <a:endParaRPr lang="en-US" sz="1800" dirty="0"/>
          </a:p>
        </p:txBody>
      </p:sp>
      <p:sp>
        <p:nvSpPr>
          <p:cNvPr id="4" name="Text 2"/>
          <p:cNvSpPr txBox="1"/>
          <p:nvPr/>
        </p:nvSpPr>
        <p:spPr>
          <a:xfrm>
            <a:off x="658368" y="3886200"/>
            <a:ext cx="8229600" cy="365760"/>
          </a:xfrm>
          <a:prstGeom prst="rect">
            <a:avLst/>
          </a:prstGeom>
          <a:noFill/>
          <a:ln/>
        </p:spPr>
        <p:txBody>
          <a:bodyPr wrap="square" lIns="0" tIns="0" rIns="0" bIns="0" rtlCol="0" anchor="ctr"/>
          <a:lstStyle/>
          <a:p>
            <a:pPr indent="0" marL="0">
              <a:buNone/>
            </a:pPr>
            <a:r>
              <a:rPr lang="en-US" sz="1250" dirty="0">
                <a:solidFill>
                  <a:srgbClr val="6E8CA0"/>
                </a:solidFill>
                <a:latin typeface="Calibri" pitchFamily="34" charset="0"/>
                <a:ea typeface="Calibri" pitchFamily="34" charset="-122"/>
                <a:cs typeface="Calibri" pitchFamily="34" charset="-120"/>
              </a:rPr>
              <a:t>Technical presentation  ·  Johann Malto  ·  October 5, 2026</a:t>
            </a:r>
            <a:endParaRPr lang="en-US" sz="1250" dirty="0"/>
          </a:p>
        </p:txBody>
      </p:sp>
      <p:sp>
        <p:nvSpPr>
          <p:cNvPr id="5" name="Shape 3"/>
          <p:cNvSpPr/>
          <p:nvPr/>
        </p:nvSpPr>
        <p:spPr>
          <a:xfrm>
            <a:off x="9144000" y="1828800"/>
            <a:ext cx="128016" cy="128016"/>
          </a:xfrm>
          <a:prstGeom prst="ellipse">
            <a:avLst/>
          </a:prstGeom>
          <a:solidFill>
            <a:srgbClr val="1C3A52"/>
          </a:solidFill>
          <a:ln/>
        </p:spPr>
      </p:sp>
      <p:sp>
        <p:nvSpPr>
          <p:cNvPr id="6" name="Shape 4"/>
          <p:cNvSpPr/>
          <p:nvPr/>
        </p:nvSpPr>
        <p:spPr>
          <a:xfrm>
            <a:off x="9381744" y="1828800"/>
            <a:ext cx="128016" cy="128016"/>
          </a:xfrm>
          <a:prstGeom prst="ellipse">
            <a:avLst/>
          </a:prstGeom>
          <a:solidFill>
            <a:srgbClr val="1C3A52"/>
          </a:solidFill>
          <a:ln/>
        </p:spPr>
      </p:sp>
      <p:sp>
        <p:nvSpPr>
          <p:cNvPr id="7" name="Shape 5"/>
          <p:cNvSpPr/>
          <p:nvPr/>
        </p:nvSpPr>
        <p:spPr>
          <a:xfrm>
            <a:off x="9619488" y="1828800"/>
            <a:ext cx="128016" cy="128016"/>
          </a:xfrm>
          <a:prstGeom prst="ellipse">
            <a:avLst/>
          </a:prstGeom>
          <a:solidFill>
            <a:srgbClr val="1C3A52"/>
          </a:solidFill>
          <a:ln/>
        </p:spPr>
      </p:sp>
      <p:sp>
        <p:nvSpPr>
          <p:cNvPr id="8" name="Shape 6"/>
          <p:cNvSpPr/>
          <p:nvPr/>
        </p:nvSpPr>
        <p:spPr>
          <a:xfrm>
            <a:off x="9857232" y="1828800"/>
            <a:ext cx="128016" cy="128016"/>
          </a:xfrm>
          <a:prstGeom prst="ellipse">
            <a:avLst/>
          </a:prstGeom>
          <a:solidFill>
            <a:srgbClr val="1C3A52"/>
          </a:solidFill>
          <a:ln/>
        </p:spPr>
      </p:sp>
      <p:sp>
        <p:nvSpPr>
          <p:cNvPr id="9" name="Shape 7"/>
          <p:cNvSpPr/>
          <p:nvPr/>
        </p:nvSpPr>
        <p:spPr>
          <a:xfrm>
            <a:off x="10094976" y="1828800"/>
            <a:ext cx="128016" cy="128016"/>
          </a:xfrm>
          <a:prstGeom prst="ellipse">
            <a:avLst/>
          </a:prstGeom>
          <a:solidFill>
            <a:srgbClr val="1C3A52"/>
          </a:solidFill>
          <a:ln/>
        </p:spPr>
      </p:sp>
      <p:sp>
        <p:nvSpPr>
          <p:cNvPr id="10" name="Shape 8"/>
          <p:cNvSpPr/>
          <p:nvPr/>
        </p:nvSpPr>
        <p:spPr>
          <a:xfrm>
            <a:off x="10332720" y="1828800"/>
            <a:ext cx="128016" cy="128016"/>
          </a:xfrm>
          <a:prstGeom prst="ellipse">
            <a:avLst/>
          </a:prstGeom>
          <a:solidFill>
            <a:srgbClr val="1C3A52"/>
          </a:solidFill>
          <a:ln/>
        </p:spPr>
      </p:sp>
      <p:sp>
        <p:nvSpPr>
          <p:cNvPr id="11" name="Shape 9"/>
          <p:cNvSpPr/>
          <p:nvPr/>
        </p:nvSpPr>
        <p:spPr>
          <a:xfrm>
            <a:off x="10570464" y="1828800"/>
            <a:ext cx="128016" cy="128016"/>
          </a:xfrm>
          <a:prstGeom prst="ellipse">
            <a:avLst/>
          </a:prstGeom>
          <a:solidFill>
            <a:srgbClr val="1C3A52"/>
          </a:solidFill>
          <a:ln/>
        </p:spPr>
      </p:sp>
      <p:sp>
        <p:nvSpPr>
          <p:cNvPr id="12" name="Shape 10"/>
          <p:cNvSpPr/>
          <p:nvPr/>
        </p:nvSpPr>
        <p:spPr>
          <a:xfrm>
            <a:off x="10808208" y="1828800"/>
            <a:ext cx="128016" cy="128016"/>
          </a:xfrm>
          <a:prstGeom prst="ellipse">
            <a:avLst/>
          </a:prstGeom>
          <a:solidFill>
            <a:srgbClr val="1C3A52"/>
          </a:solidFill>
          <a:ln/>
        </p:spPr>
      </p:sp>
      <p:sp>
        <p:nvSpPr>
          <p:cNvPr id="13" name="Shape 11"/>
          <p:cNvSpPr/>
          <p:nvPr/>
        </p:nvSpPr>
        <p:spPr>
          <a:xfrm>
            <a:off x="11045952" y="1828800"/>
            <a:ext cx="128016" cy="128016"/>
          </a:xfrm>
          <a:prstGeom prst="ellipse">
            <a:avLst/>
          </a:prstGeom>
          <a:solidFill>
            <a:srgbClr val="1C3A52"/>
          </a:solidFill>
          <a:ln/>
        </p:spPr>
      </p:sp>
      <p:sp>
        <p:nvSpPr>
          <p:cNvPr id="14" name="Shape 12"/>
          <p:cNvSpPr/>
          <p:nvPr/>
        </p:nvSpPr>
        <p:spPr>
          <a:xfrm>
            <a:off x="11283696" y="1828800"/>
            <a:ext cx="128016" cy="128016"/>
          </a:xfrm>
          <a:prstGeom prst="ellipse">
            <a:avLst/>
          </a:prstGeom>
          <a:solidFill>
            <a:srgbClr val="1C3A52"/>
          </a:solidFill>
          <a:ln/>
        </p:spPr>
      </p:sp>
      <p:sp>
        <p:nvSpPr>
          <p:cNvPr id="15" name="Shape 13"/>
          <p:cNvSpPr/>
          <p:nvPr/>
        </p:nvSpPr>
        <p:spPr>
          <a:xfrm>
            <a:off x="9144000" y="2066544"/>
            <a:ext cx="128016" cy="128016"/>
          </a:xfrm>
          <a:prstGeom prst="ellipse">
            <a:avLst/>
          </a:prstGeom>
          <a:solidFill>
            <a:srgbClr val="1C3A52"/>
          </a:solidFill>
          <a:ln/>
        </p:spPr>
      </p:sp>
      <p:sp>
        <p:nvSpPr>
          <p:cNvPr id="16" name="Shape 14"/>
          <p:cNvSpPr/>
          <p:nvPr/>
        </p:nvSpPr>
        <p:spPr>
          <a:xfrm>
            <a:off x="9381744" y="2066544"/>
            <a:ext cx="128016" cy="128016"/>
          </a:xfrm>
          <a:prstGeom prst="ellipse">
            <a:avLst/>
          </a:prstGeom>
          <a:solidFill>
            <a:srgbClr val="1C3A52"/>
          </a:solidFill>
          <a:ln/>
        </p:spPr>
      </p:sp>
      <p:sp>
        <p:nvSpPr>
          <p:cNvPr id="17" name="Shape 15"/>
          <p:cNvSpPr/>
          <p:nvPr/>
        </p:nvSpPr>
        <p:spPr>
          <a:xfrm>
            <a:off x="9619488" y="2066544"/>
            <a:ext cx="128016" cy="128016"/>
          </a:xfrm>
          <a:prstGeom prst="ellipse">
            <a:avLst/>
          </a:prstGeom>
          <a:solidFill>
            <a:srgbClr val="1C3A52"/>
          </a:solidFill>
          <a:ln/>
        </p:spPr>
      </p:sp>
      <p:sp>
        <p:nvSpPr>
          <p:cNvPr id="18" name="Shape 16"/>
          <p:cNvSpPr/>
          <p:nvPr/>
        </p:nvSpPr>
        <p:spPr>
          <a:xfrm>
            <a:off x="9857232" y="2066544"/>
            <a:ext cx="128016" cy="128016"/>
          </a:xfrm>
          <a:prstGeom prst="ellipse">
            <a:avLst/>
          </a:prstGeom>
          <a:solidFill>
            <a:srgbClr val="1C3A52"/>
          </a:solidFill>
          <a:ln/>
        </p:spPr>
      </p:sp>
      <p:sp>
        <p:nvSpPr>
          <p:cNvPr id="19" name="Shape 17"/>
          <p:cNvSpPr/>
          <p:nvPr/>
        </p:nvSpPr>
        <p:spPr>
          <a:xfrm>
            <a:off x="10094976" y="2066544"/>
            <a:ext cx="128016" cy="128016"/>
          </a:xfrm>
          <a:prstGeom prst="ellipse">
            <a:avLst/>
          </a:prstGeom>
          <a:solidFill>
            <a:srgbClr val="1C3A52"/>
          </a:solidFill>
          <a:ln/>
        </p:spPr>
      </p:sp>
      <p:sp>
        <p:nvSpPr>
          <p:cNvPr id="20" name="Shape 18"/>
          <p:cNvSpPr/>
          <p:nvPr/>
        </p:nvSpPr>
        <p:spPr>
          <a:xfrm>
            <a:off x="10332720" y="2066544"/>
            <a:ext cx="128016" cy="128016"/>
          </a:xfrm>
          <a:prstGeom prst="ellipse">
            <a:avLst/>
          </a:prstGeom>
          <a:solidFill>
            <a:srgbClr val="1C3A52"/>
          </a:solidFill>
          <a:ln/>
        </p:spPr>
      </p:sp>
      <p:sp>
        <p:nvSpPr>
          <p:cNvPr id="21" name="Shape 19"/>
          <p:cNvSpPr/>
          <p:nvPr/>
        </p:nvSpPr>
        <p:spPr>
          <a:xfrm>
            <a:off x="10570464" y="2066544"/>
            <a:ext cx="128016" cy="128016"/>
          </a:xfrm>
          <a:prstGeom prst="ellipse">
            <a:avLst/>
          </a:prstGeom>
          <a:solidFill>
            <a:srgbClr val="1C3A52"/>
          </a:solidFill>
          <a:ln/>
        </p:spPr>
      </p:sp>
      <p:sp>
        <p:nvSpPr>
          <p:cNvPr id="22" name="Shape 20"/>
          <p:cNvSpPr/>
          <p:nvPr/>
        </p:nvSpPr>
        <p:spPr>
          <a:xfrm>
            <a:off x="10808208" y="2066544"/>
            <a:ext cx="128016" cy="128016"/>
          </a:xfrm>
          <a:prstGeom prst="ellipse">
            <a:avLst/>
          </a:prstGeom>
          <a:solidFill>
            <a:srgbClr val="1C3A52"/>
          </a:solidFill>
          <a:ln/>
        </p:spPr>
      </p:sp>
      <p:sp>
        <p:nvSpPr>
          <p:cNvPr id="23" name="Shape 21"/>
          <p:cNvSpPr/>
          <p:nvPr/>
        </p:nvSpPr>
        <p:spPr>
          <a:xfrm>
            <a:off x="11045952" y="2066544"/>
            <a:ext cx="128016" cy="128016"/>
          </a:xfrm>
          <a:prstGeom prst="ellipse">
            <a:avLst/>
          </a:prstGeom>
          <a:solidFill>
            <a:srgbClr val="1C3A52"/>
          </a:solidFill>
          <a:ln/>
        </p:spPr>
      </p:sp>
      <p:sp>
        <p:nvSpPr>
          <p:cNvPr id="24" name="Shape 22"/>
          <p:cNvSpPr/>
          <p:nvPr/>
        </p:nvSpPr>
        <p:spPr>
          <a:xfrm>
            <a:off x="11283696" y="2066544"/>
            <a:ext cx="128016" cy="128016"/>
          </a:xfrm>
          <a:prstGeom prst="ellipse">
            <a:avLst/>
          </a:prstGeom>
          <a:solidFill>
            <a:srgbClr val="1C3A52"/>
          </a:solidFill>
          <a:ln/>
        </p:spPr>
      </p:sp>
      <p:sp>
        <p:nvSpPr>
          <p:cNvPr id="25" name="Shape 23"/>
          <p:cNvSpPr/>
          <p:nvPr/>
        </p:nvSpPr>
        <p:spPr>
          <a:xfrm>
            <a:off x="9144000" y="2304288"/>
            <a:ext cx="128016" cy="128016"/>
          </a:xfrm>
          <a:prstGeom prst="ellipse">
            <a:avLst/>
          </a:prstGeom>
          <a:solidFill>
            <a:srgbClr val="1C3A52"/>
          </a:solidFill>
          <a:ln/>
        </p:spPr>
      </p:sp>
      <p:sp>
        <p:nvSpPr>
          <p:cNvPr id="26" name="Shape 24"/>
          <p:cNvSpPr/>
          <p:nvPr/>
        </p:nvSpPr>
        <p:spPr>
          <a:xfrm>
            <a:off x="9381744" y="2304288"/>
            <a:ext cx="128016" cy="128016"/>
          </a:xfrm>
          <a:prstGeom prst="ellipse">
            <a:avLst/>
          </a:prstGeom>
          <a:solidFill>
            <a:srgbClr val="1C3A52"/>
          </a:solidFill>
          <a:ln/>
        </p:spPr>
      </p:sp>
      <p:sp>
        <p:nvSpPr>
          <p:cNvPr id="27" name="Shape 25"/>
          <p:cNvSpPr/>
          <p:nvPr/>
        </p:nvSpPr>
        <p:spPr>
          <a:xfrm>
            <a:off x="9619488" y="2304288"/>
            <a:ext cx="128016" cy="128016"/>
          </a:xfrm>
          <a:prstGeom prst="ellipse">
            <a:avLst/>
          </a:prstGeom>
          <a:solidFill>
            <a:srgbClr val="1C3A52"/>
          </a:solidFill>
          <a:ln/>
        </p:spPr>
      </p:sp>
      <p:sp>
        <p:nvSpPr>
          <p:cNvPr id="28" name="Shape 26"/>
          <p:cNvSpPr/>
          <p:nvPr/>
        </p:nvSpPr>
        <p:spPr>
          <a:xfrm>
            <a:off x="9857232" y="2304288"/>
            <a:ext cx="128016" cy="128016"/>
          </a:xfrm>
          <a:prstGeom prst="ellipse">
            <a:avLst/>
          </a:prstGeom>
          <a:solidFill>
            <a:srgbClr val="1C3A52"/>
          </a:solidFill>
          <a:ln/>
        </p:spPr>
      </p:sp>
      <p:sp>
        <p:nvSpPr>
          <p:cNvPr id="29" name="Shape 27"/>
          <p:cNvSpPr/>
          <p:nvPr/>
        </p:nvSpPr>
        <p:spPr>
          <a:xfrm>
            <a:off x="10094976" y="2304288"/>
            <a:ext cx="128016" cy="128016"/>
          </a:xfrm>
          <a:prstGeom prst="ellipse">
            <a:avLst/>
          </a:prstGeom>
          <a:solidFill>
            <a:srgbClr val="1C3A52"/>
          </a:solidFill>
          <a:ln/>
        </p:spPr>
      </p:sp>
      <p:sp>
        <p:nvSpPr>
          <p:cNvPr id="30" name="Shape 28"/>
          <p:cNvSpPr/>
          <p:nvPr/>
        </p:nvSpPr>
        <p:spPr>
          <a:xfrm>
            <a:off x="10332720" y="2304288"/>
            <a:ext cx="128016" cy="128016"/>
          </a:xfrm>
          <a:prstGeom prst="ellipse">
            <a:avLst/>
          </a:prstGeom>
          <a:solidFill>
            <a:srgbClr val="1C3A52"/>
          </a:solidFill>
          <a:ln/>
        </p:spPr>
      </p:sp>
      <p:sp>
        <p:nvSpPr>
          <p:cNvPr id="31" name="Shape 29"/>
          <p:cNvSpPr/>
          <p:nvPr/>
        </p:nvSpPr>
        <p:spPr>
          <a:xfrm>
            <a:off x="10570464" y="2304288"/>
            <a:ext cx="128016" cy="128016"/>
          </a:xfrm>
          <a:prstGeom prst="ellipse">
            <a:avLst/>
          </a:prstGeom>
          <a:solidFill>
            <a:srgbClr val="1C3A52"/>
          </a:solidFill>
          <a:ln/>
        </p:spPr>
      </p:sp>
      <p:sp>
        <p:nvSpPr>
          <p:cNvPr id="32" name="Shape 30"/>
          <p:cNvSpPr/>
          <p:nvPr/>
        </p:nvSpPr>
        <p:spPr>
          <a:xfrm>
            <a:off x="10808208" y="2304288"/>
            <a:ext cx="128016" cy="128016"/>
          </a:xfrm>
          <a:prstGeom prst="ellipse">
            <a:avLst/>
          </a:prstGeom>
          <a:solidFill>
            <a:srgbClr val="1C3A52"/>
          </a:solidFill>
          <a:ln/>
        </p:spPr>
      </p:sp>
      <p:sp>
        <p:nvSpPr>
          <p:cNvPr id="33" name="Shape 31"/>
          <p:cNvSpPr/>
          <p:nvPr/>
        </p:nvSpPr>
        <p:spPr>
          <a:xfrm>
            <a:off x="11045952" y="2304288"/>
            <a:ext cx="128016" cy="128016"/>
          </a:xfrm>
          <a:prstGeom prst="ellipse">
            <a:avLst/>
          </a:prstGeom>
          <a:solidFill>
            <a:srgbClr val="1C3A52"/>
          </a:solidFill>
          <a:ln/>
        </p:spPr>
      </p:sp>
      <p:sp>
        <p:nvSpPr>
          <p:cNvPr id="34" name="Shape 32"/>
          <p:cNvSpPr/>
          <p:nvPr/>
        </p:nvSpPr>
        <p:spPr>
          <a:xfrm>
            <a:off x="11283696" y="2304288"/>
            <a:ext cx="128016" cy="128016"/>
          </a:xfrm>
          <a:prstGeom prst="ellipse">
            <a:avLst/>
          </a:prstGeom>
          <a:solidFill>
            <a:srgbClr val="1C3A52"/>
          </a:solidFill>
          <a:ln/>
        </p:spPr>
      </p:sp>
      <p:sp>
        <p:nvSpPr>
          <p:cNvPr id="35" name="Shape 33"/>
          <p:cNvSpPr/>
          <p:nvPr/>
        </p:nvSpPr>
        <p:spPr>
          <a:xfrm>
            <a:off x="9144000" y="2542032"/>
            <a:ext cx="128016" cy="128016"/>
          </a:xfrm>
          <a:prstGeom prst="ellipse">
            <a:avLst/>
          </a:prstGeom>
          <a:solidFill>
            <a:srgbClr val="1C3A52"/>
          </a:solidFill>
          <a:ln/>
        </p:spPr>
      </p:sp>
      <p:sp>
        <p:nvSpPr>
          <p:cNvPr id="36" name="Shape 34"/>
          <p:cNvSpPr/>
          <p:nvPr/>
        </p:nvSpPr>
        <p:spPr>
          <a:xfrm>
            <a:off x="9381744" y="2542032"/>
            <a:ext cx="128016" cy="128016"/>
          </a:xfrm>
          <a:prstGeom prst="ellipse">
            <a:avLst/>
          </a:prstGeom>
          <a:solidFill>
            <a:srgbClr val="1C3A52"/>
          </a:solidFill>
          <a:ln/>
        </p:spPr>
      </p:sp>
      <p:sp>
        <p:nvSpPr>
          <p:cNvPr id="37" name="Shape 35"/>
          <p:cNvSpPr/>
          <p:nvPr/>
        </p:nvSpPr>
        <p:spPr>
          <a:xfrm>
            <a:off x="9619488" y="2542032"/>
            <a:ext cx="128016" cy="128016"/>
          </a:xfrm>
          <a:prstGeom prst="ellipse">
            <a:avLst/>
          </a:prstGeom>
          <a:solidFill>
            <a:srgbClr val="1C3A52"/>
          </a:solidFill>
          <a:ln/>
        </p:spPr>
      </p:sp>
      <p:sp>
        <p:nvSpPr>
          <p:cNvPr id="38" name="Shape 36"/>
          <p:cNvSpPr/>
          <p:nvPr/>
        </p:nvSpPr>
        <p:spPr>
          <a:xfrm>
            <a:off x="9857232" y="2542032"/>
            <a:ext cx="128016" cy="128016"/>
          </a:xfrm>
          <a:prstGeom prst="ellipse">
            <a:avLst/>
          </a:prstGeom>
          <a:solidFill>
            <a:srgbClr val="1C3A52"/>
          </a:solidFill>
          <a:ln/>
        </p:spPr>
      </p:sp>
      <p:sp>
        <p:nvSpPr>
          <p:cNvPr id="39" name="Shape 37"/>
          <p:cNvSpPr/>
          <p:nvPr/>
        </p:nvSpPr>
        <p:spPr>
          <a:xfrm>
            <a:off x="10094976" y="2542032"/>
            <a:ext cx="128016" cy="128016"/>
          </a:xfrm>
          <a:prstGeom prst="ellipse">
            <a:avLst/>
          </a:prstGeom>
          <a:solidFill>
            <a:srgbClr val="1C3A52"/>
          </a:solidFill>
          <a:ln/>
        </p:spPr>
      </p:sp>
      <p:sp>
        <p:nvSpPr>
          <p:cNvPr id="40" name="Shape 38"/>
          <p:cNvSpPr/>
          <p:nvPr/>
        </p:nvSpPr>
        <p:spPr>
          <a:xfrm>
            <a:off x="10332720" y="2542032"/>
            <a:ext cx="128016" cy="128016"/>
          </a:xfrm>
          <a:prstGeom prst="ellipse">
            <a:avLst/>
          </a:prstGeom>
          <a:solidFill>
            <a:srgbClr val="1C3A52"/>
          </a:solidFill>
          <a:ln/>
        </p:spPr>
      </p:sp>
      <p:sp>
        <p:nvSpPr>
          <p:cNvPr id="41" name="Shape 39"/>
          <p:cNvSpPr/>
          <p:nvPr/>
        </p:nvSpPr>
        <p:spPr>
          <a:xfrm>
            <a:off x="10570464" y="2542032"/>
            <a:ext cx="128016" cy="128016"/>
          </a:xfrm>
          <a:prstGeom prst="ellipse">
            <a:avLst/>
          </a:prstGeom>
          <a:solidFill>
            <a:srgbClr val="1C3A52"/>
          </a:solidFill>
          <a:ln/>
        </p:spPr>
      </p:sp>
      <p:sp>
        <p:nvSpPr>
          <p:cNvPr id="42" name="Shape 40"/>
          <p:cNvSpPr/>
          <p:nvPr/>
        </p:nvSpPr>
        <p:spPr>
          <a:xfrm>
            <a:off x="10808208" y="2542032"/>
            <a:ext cx="128016" cy="128016"/>
          </a:xfrm>
          <a:prstGeom prst="ellipse">
            <a:avLst/>
          </a:prstGeom>
          <a:solidFill>
            <a:srgbClr val="E63946"/>
          </a:solidFill>
          <a:ln/>
        </p:spPr>
      </p:sp>
      <p:sp>
        <p:nvSpPr>
          <p:cNvPr id="43" name="Shape 41"/>
          <p:cNvSpPr/>
          <p:nvPr/>
        </p:nvSpPr>
        <p:spPr>
          <a:xfrm>
            <a:off x="11045952" y="2542032"/>
            <a:ext cx="128016" cy="128016"/>
          </a:xfrm>
          <a:prstGeom prst="ellipse">
            <a:avLst/>
          </a:prstGeom>
          <a:solidFill>
            <a:srgbClr val="1C3A52"/>
          </a:solidFill>
          <a:ln/>
        </p:spPr>
      </p:sp>
      <p:sp>
        <p:nvSpPr>
          <p:cNvPr id="44" name="Shape 42"/>
          <p:cNvSpPr/>
          <p:nvPr/>
        </p:nvSpPr>
        <p:spPr>
          <a:xfrm>
            <a:off x="11283696" y="2542032"/>
            <a:ext cx="128016" cy="128016"/>
          </a:xfrm>
          <a:prstGeom prst="ellipse">
            <a:avLst/>
          </a:prstGeom>
          <a:solidFill>
            <a:srgbClr val="1C3A52"/>
          </a:solidFill>
          <a:ln/>
        </p:spPr>
      </p:sp>
      <p:sp>
        <p:nvSpPr>
          <p:cNvPr id="45" name="Shape 43"/>
          <p:cNvSpPr/>
          <p:nvPr/>
        </p:nvSpPr>
        <p:spPr>
          <a:xfrm>
            <a:off x="9144000" y="2779776"/>
            <a:ext cx="128016" cy="128016"/>
          </a:xfrm>
          <a:prstGeom prst="ellipse">
            <a:avLst/>
          </a:prstGeom>
          <a:solidFill>
            <a:srgbClr val="1C3A52"/>
          </a:solidFill>
          <a:ln/>
        </p:spPr>
      </p:sp>
      <p:sp>
        <p:nvSpPr>
          <p:cNvPr id="46" name="Shape 44"/>
          <p:cNvSpPr/>
          <p:nvPr/>
        </p:nvSpPr>
        <p:spPr>
          <a:xfrm>
            <a:off x="9381744" y="2779776"/>
            <a:ext cx="128016" cy="128016"/>
          </a:xfrm>
          <a:prstGeom prst="ellipse">
            <a:avLst/>
          </a:prstGeom>
          <a:solidFill>
            <a:srgbClr val="1C3A52"/>
          </a:solidFill>
          <a:ln/>
        </p:spPr>
      </p:sp>
      <p:sp>
        <p:nvSpPr>
          <p:cNvPr id="47" name="Shape 45"/>
          <p:cNvSpPr/>
          <p:nvPr/>
        </p:nvSpPr>
        <p:spPr>
          <a:xfrm>
            <a:off x="9619488" y="2779776"/>
            <a:ext cx="128016" cy="128016"/>
          </a:xfrm>
          <a:prstGeom prst="ellipse">
            <a:avLst/>
          </a:prstGeom>
          <a:solidFill>
            <a:srgbClr val="1C3A52"/>
          </a:solidFill>
          <a:ln/>
        </p:spPr>
      </p:sp>
      <p:sp>
        <p:nvSpPr>
          <p:cNvPr id="48" name="Shape 46"/>
          <p:cNvSpPr/>
          <p:nvPr/>
        </p:nvSpPr>
        <p:spPr>
          <a:xfrm>
            <a:off x="9857232" y="2779776"/>
            <a:ext cx="128016" cy="128016"/>
          </a:xfrm>
          <a:prstGeom prst="ellipse">
            <a:avLst/>
          </a:prstGeom>
          <a:solidFill>
            <a:srgbClr val="1C3A52"/>
          </a:solidFill>
          <a:ln/>
        </p:spPr>
      </p:sp>
      <p:sp>
        <p:nvSpPr>
          <p:cNvPr id="49" name="Shape 47"/>
          <p:cNvSpPr/>
          <p:nvPr/>
        </p:nvSpPr>
        <p:spPr>
          <a:xfrm>
            <a:off x="10094976" y="2779776"/>
            <a:ext cx="128016" cy="128016"/>
          </a:xfrm>
          <a:prstGeom prst="ellipse">
            <a:avLst/>
          </a:prstGeom>
          <a:solidFill>
            <a:srgbClr val="1C3A52"/>
          </a:solidFill>
          <a:ln/>
        </p:spPr>
      </p:sp>
      <p:sp>
        <p:nvSpPr>
          <p:cNvPr id="50" name="Shape 48"/>
          <p:cNvSpPr/>
          <p:nvPr/>
        </p:nvSpPr>
        <p:spPr>
          <a:xfrm>
            <a:off x="10332720" y="2779776"/>
            <a:ext cx="128016" cy="128016"/>
          </a:xfrm>
          <a:prstGeom prst="ellipse">
            <a:avLst/>
          </a:prstGeom>
          <a:solidFill>
            <a:srgbClr val="1C3A52"/>
          </a:solidFill>
          <a:ln/>
        </p:spPr>
      </p:sp>
      <p:sp>
        <p:nvSpPr>
          <p:cNvPr id="51" name="Shape 49"/>
          <p:cNvSpPr/>
          <p:nvPr/>
        </p:nvSpPr>
        <p:spPr>
          <a:xfrm>
            <a:off x="10570464" y="2779776"/>
            <a:ext cx="128016" cy="128016"/>
          </a:xfrm>
          <a:prstGeom prst="ellipse">
            <a:avLst/>
          </a:prstGeom>
          <a:solidFill>
            <a:srgbClr val="1C3A52"/>
          </a:solidFill>
          <a:ln/>
        </p:spPr>
      </p:sp>
      <p:sp>
        <p:nvSpPr>
          <p:cNvPr id="52" name="Shape 50"/>
          <p:cNvSpPr/>
          <p:nvPr/>
        </p:nvSpPr>
        <p:spPr>
          <a:xfrm>
            <a:off x="10808208" y="2779776"/>
            <a:ext cx="128016" cy="128016"/>
          </a:xfrm>
          <a:prstGeom prst="ellipse">
            <a:avLst/>
          </a:prstGeom>
          <a:solidFill>
            <a:srgbClr val="1C3A52"/>
          </a:solidFill>
          <a:ln/>
        </p:spPr>
      </p:sp>
      <p:sp>
        <p:nvSpPr>
          <p:cNvPr id="53" name="Shape 51"/>
          <p:cNvSpPr/>
          <p:nvPr/>
        </p:nvSpPr>
        <p:spPr>
          <a:xfrm>
            <a:off x="11045952" y="2779776"/>
            <a:ext cx="128016" cy="128016"/>
          </a:xfrm>
          <a:prstGeom prst="ellipse">
            <a:avLst/>
          </a:prstGeom>
          <a:solidFill>
            <a:srgbClr val="1C3A52"/>
          </a:solidFill>
          <a:ln/>
        </p:spPr>
      </p:sp>
      <p:sp>
        <p:nvSpPr>
          <p:cNvPr id="54" name="Shape 52"/>
          <p:cNvSpPr/>
          <p:nvPr/>
        </p:nvSpPr>
        <p:spPr>
          <a:xfrm>
            <a:off x="11283696" y="2779776"/>
            <a:ext cx="128016" cy="128016"/>
          </a:xfrm>
          <a:prstGeom prst="ellipse">
            <a:avLst/>
          </a:prstGeom>
          <a:solidFill>
            <a:srgbClr val="1C3A52"/>
          </a:solidFill>
          <a:ln/>
        </p:spPr>
      </p:sp>
      <p:sp>
        <p:nvSpPr>
          <p:cNvPr id="55" name="Shape 53"/>
          <p:cNvSpPr/>
          <p:nvPr/>
        </p:nvSpPr>
        <p:spPr>
          <a:xfrm>
            <a:off x="9144000" y="3017520"/>
            <a:ext cx="128016" cy="128016"/>
          </a:xfrm>
          <a:prstGeom prst="ellipse">
            <a:avLst/>
          </a:prstGeom>
          <a:solidFill>
            <a:srgbClr val="1C3A52"/>
          </a:solidFill>
          <a:ln/>
        </p:spPr>
      </p:sp>
      <p:sp>
        <p:nvSpPr>
          <p:cNvPr id="56" name="Shape 54"/>
          <p:cNvSpPr/>
          <p:nvPr/>
        </p:nvSpPr>
        <p:spPr>
          <a:xfrm>
            <a:off x="9381744" y="3017520"/>
            <a:ext cx="128016" cy="128016"/>
          </a:xfrm>
          <a:prstGeom prst="ellipse">
            <a:avLst/>
          </a:prstGeom>
          <a:solidFill>
            <a:srgbClr val="1C3A52"/>
          </a:solidFill>
          <a:ln/>
        </p:spPr>
      </p:sp>
      <p:sp>
        <p:nvSpPr>
          <p:cNvPr id="57" name="Shape 55"/>
          <p:cNvSpPr/>
          <p:nvPr/>
        </p:nvSpPr>
        <p:spPr>
          <a:xfrm>
            <a:off x="9619488" y="3017520"/>
            <a:ext cx="128016" cy="128016"/>
          </a:xfrm>
          <a:prstGeom prst="ellipse">
            <a:avLst/>
          </a:prstGeom>
          <a:solidFill>
            <a:srgbClr val="1C3A52"/>
          </a:solidFill>
          <a:ln/>
        </p:spPr>
      </p:sp>
      <p:sp>
        <p:nvSpPr>
          <p:cNvPr id="58" name="Shape 56"/>
          <p:cNvSpPr/>
          <p:nvPr/>
        </p:nvSpPr>
        <p:spPr>
          <a:xfrm>
            <a:off x="9857232" y="3017520"/>
            <a:ext cx="128016" cy="128016"/>
          </a:xfrm>
          <a:prstGeom prst="ellipse">
            <a:avLst/>
          </a:prstGeom>
          <a:solidFill>
            <a:srgbClr val="1C3A52"/>
          </a:solidFill>
          <a:ln/>
        </p:spPr>
      </p:sp>
      <p:sp>
        <p:nvSpPr>
          <p:cNvPr id="59" name="Shape 57"/>
          <p:cNvSpPr/>
          <p:nvPr/>
        </p:nvSpPr>
        <p:spPr>
          <a:xfrm>
            <a:off x="10094976" y="3017520"/>
            <a:ext cx="128016" cy="128016"/>
          </a:xfrm>
          <a:prstGeom prst="ellipse">
            <a:avLst/>
          </a:prstGeom>
          <a:solidFill>
            <a:srgbClr val="1C3A52"/>
          </a:solidFill>
          <a:ln/>
        </p:spPr>
      </p:sp>
      <p:sp>
        <p:nvSpPr>
          <p:cNvPr id="60" name="Shape 58"/>
          <p:cNvSpPr/>
          <p:nvPr/>
        </p:nvSpPr>
        <p:spPr>
          <a:xfrm>
            <a:off x="10332720" y="3017520"/>
            <a:ext cx="128016" cy="128016"/>
          </a:xfrm>
          <a:prstGeom prst="ellipse">
            <a:avLst/>
          </a:prstGeom>
          <a:solidFill>
            <a:srgbClr val="1C3A52"/>
          </a:solidFill>
          <a:ln/>
        </p:spPr>
      </p:sp>
      <p:sp>
        <p:nvSpPr>
          <p:cNvPr id="61" name="Shape 59"/>
          <p:cNvSpPr/>
          <p:nvPr/>
        </p:nvSpPr>
        <p:spPr>
          <a:xfrm>
            <a:off x="10570464" y="3017520"/>
            <a:ext cx="128016" cy="128016"/>
          </a:xfrm>
          <a:prstGeom prst="ellipse">
            <a:avLst/>
          </a:prstGeom>
          <a:solidFill>
            <a:srgbClr val="1C3A52"/>
          </a:solidFill>
          <a:ln/>
        </p:spPr>
      </p:sp>
      <p:sp>
        <p:nvSpPr>
          <p:cNvPr id="62" name="Shape 60"/>
          <p:cNvSpPr/>
          <p:nvPr/>
        </p:nvSpPr>
        <p:spPr>
          <a:xfrm>
            <a:off x="10808208" y="3017520"/>
            <a:ext cx="128016" cy="128016"/>
          </a:xfrm>
          <a:prstGeom prst="ellipse">
            <a:avLst/>
          </a:prstGeom>
          <a:solidFill>
            <a:srgbClr val="1C3A52"/>
          </a:solidFill>
          <a:ln/>
        </p:spPr>
      </p:sp>
      <p:sp>
        <p:nvSpPr>
          <p:cNvPr id="63" name="Shape 61"/>
          <p:cNvSpPr/>
          <p:nvPr/>
        </p:nvSpPr>
        <p:spPr>
          <a:xfrm>
            <a:off x="11045952" y="3017520"/>
            <a:ext cx="128016" cy="128016"/>
          </a:xfrm>
          <a:prstGeom prst="ellipse">
            <a:avLst/>
          </a:prstGeom>
          <a:solidFill>
            <a:srgbClr val="1C3A52"/>
          </a:solidFill>
          <a:ln/>
        </p:spPr>
      </p:sp>
      <p:sp>
        <p:nvSpPr>
          <p:cNvPr id="64" name="Shape 62"/>
          <p:cNvSpPr/>
          <p:nvPr/>
        </p:nvSpPr>
        <p:spPr>
          <a:xfrm>
            <a:off x="11283696" y="3017520"/>
            <a:ext cx="128016" cy="128016"/>
          </a:xfrm>
          <a:prstGeom prst="ellipse">
            <a:avLst/>
          </a:prstGeom>
          <a:solidFill>
            <a:srgbClr val="1C3A52"/>
          </a:solidFill>
          <a:ln/>
        </p:spPr>
      </p:sp>
      <p:sp>
        <p:nvSpPr>
          <p:cNvPr id="65" name="Shape 63"/>
          <p:cNvSpPr/>
          <p:nvPr/>
        </p:nvSpPr>
        <p:spPr>
          <a:xfrm>
            <a:off x="9144000" y="3255264"/>
            <a:ext cx="128016" cy="128016"/>
          </a:xfrm>
          <a:prstGeom prst="ellipse">
            <a:avLst/>
          </a:prstGeom>
          <a:solidFill>
            <a:srgbClr val="1C3A52"/>
          </a:solidFill>
          <a:ln/>
        </p:spPr>
      </p:sp>
      <p:sp>
        <p:nvSpPr>
          <p:cNvPr id="66" name="Shape 64"/>
          <p:cNvSpPr/>
          <p:nvPr/>
        </p:nvSpPr>
        <p:spPr>
          <a:xfrm>
            <a:off x="9381744" y="3255264"/>
            <a:ext cx="128016" cy="128016"/>
          </a:xfrm>
          <a:prstGeom prst="ellipse">
            <a:avLst/>
          </a:prstGeom>
          <a:solidFill>
            <a:srgbClr val="1C3A52"/>
          </a:solidFill>
          <a:ln/>
        </p:spPr>
      </p:sp>
      <p:sp>
        <p:nvSpPr>
          <p:cNvPr id="67" name="Shape 65"/>
          <p:cNvSpPr/>
          <p:nvPr/>
        </p:nvSpPr>
        <p:spPr>
          <a:xfrm>
            <a:off x="9619488" y="3255264"/>
            <a:ext cx="128016" cy="128016"/>
          </a:xfrm>
          <a:prstGeom prst="ellipse">
            <a:avLst/>
          </a:prstGeom>
          <a:solidFill>
            <a:srgbClr val="1C3A52"/>
          </a:solidFill>
          <a:ln/>
        </p:spPr>
      </p:sp>
      <p:sp>
        <p:nvSpPr>
          <p:cNvPr id="68" name="Shape 66"/>
          <p:cNvSpPr/>
          <p:nvPr/>
        </p:nvSpPr>
        <p:spPr>
          <a:xfrm>
            <a:off x="9857232" y="3255264"/>
            <a:ext cx="128016" cy="128016"/>
          </a:xfrm>
          <a:prstGeom prst="ellipse">
            <a:avLst/>
          </a:prstGeom>
          <a:solidFill>
            <a:srgbClr val="1C3A52"/>
          </a:solidFill>
          <a:ln/>
        </p:spPr>
      </p:sp>
      <p:sp>
        <p:nvSpPr>
          <p:cNvPr id="69" name="Shape 67"/>
          <p:cNvSpPr/>
          <p:nvPr/>
        </p:nvSpPr>
        <p:spPr>
          <a:xfrm>
            <a:off x="10094976" y="3255264"/>
            <a:ext cx="128016" cy="128016"/>
          </a:xfrm>
          <a:prstGeom prst="ellipse">
            <a:avLst/>
          </a:prstGeom>
          <a:solidFill>
            <a:srgbClr val="1C3A52"/>
          </a:solidFill>
          <a:ln/>
        </p:spPr>
      </p:sp>
      <p:sp>
        <p:nvSpPr>
          <p:cNvPr id="70" name="Shape 68"/>
          <p:cNvSpPr/>
          <p:nvPr/>
        </p:nvSpPr>
        <p:spPr>
          <a:xfrm>
            <a:off x="10332720" y="3255264"/>
            <a:ext cx="128016" cy="128016"/>
          </a:xfrm>
          <a:prstGeom prst="ellipse">
            <a:avLst/>
          </a:prstGeom>
          <a:solidFill>
            <a:srgbClr val="1C3A52"/>
          </a:solidFill>
          <a:ln/>
        </p:spPr>
      </p:sp>
      <p:sp>
        <p:nvSpPr>
          <p:cNvPr id="71" name="Shape 69"/>
          <p:cNvSpPr/>
          <p:nvPr/>
        </p:nvSpPr>
        <p:spPr>
          <a:xfrm>
            <a:off x="10570464" y="3255264"/>
            <a:ext cx="128016" cy="128016"/>
          </a:xfrm>
          <a:prstGeom prst="ellipse">
            <a:avLst/>
          </a:prstGeom>
          <a:solidFill>
            <a:srgbClr val="1C3A52"/>
          </a:solidFill>
          <a:ln/>
        </p:spPr>
      </p:sp>
      <p:sp>
        <p:nvSpPr>
          <p:cNvPr id="72" name="Shape 70"/>
          <p:cNvSpPr/>
          <p:nvPr/>
        </p:nvSpPr>
        <p:spPr>
          <a:xfrm>
            <a:off x="10808208" y="3255264"/>
            <a:ext cx="128016" cy="128016"/>
          </a:xfrm>
          <a:prstGeom prst="ellipse">
            <a:avLst/>
          </a:prstGeom>
          <a:solidFill>
            <a:srgbClr val="1C3A52"/>
          </a:solidFill>
          <a:ln/>
        </p:spPr>
      </p:sp>
      <p:sp>
        <p:nvSpPr>
          <p:cNvPr id="73" name="Shape 71"/>
          <p:cNvSpPr/>
          <p:nvPr/>
        </p:nvSpPr>
        <p:spPr>
          <a:xfrm>
            <a:off x="11045952" y="3255264"/>
            <a:ext cx="128016" cy="128016"/>
          </a:xfrm>
          <a:prstGeom prst="ellipse">
            <a:avLst/>
          </a:prstGeom>
          <a:solidFill>
            <a:srgbClr val="1C3A52"/>
          </a:solidFill>
          <a:ln/>
        </p:spPr>
      </p:sp>
      <p:sp>
        <p:nvSpPr>
          <p:cNvPr id="74" name="Shape 72"/>
          <p:cNvSpPr/>
          <p:nvPr/>
        </p:nvSpPr>
        <p:spPr>
          <a:xfrm>
            <a:off x="11283696" y="3255264"/>
            <a:ext cx="128016" cy="128016"/>
          </a:xfrm>
          <a:prstGeom prst="ellipse">
            <a:avLst/>
          </a:prstGeom>
          <a:solidFill>
            <a:srgbClr val="1C3A52"/>
          </a:solidFill>
          <a:ln/>
        </p:spPr>
      </p:sp>
      <p:sp>
        <p:nvSpPr>
          <p:cNvPr id="75" name="Shape 73"/>
          <p:cNvSpPr/>
          <p:nvPr/>
        </p:nvSpPr>
        <p:spPr>
          <a:xfrm>
            <a:off x="9144000" y="3493008"/>
            <a:ext cx="128016" cy="128016"/>
          </a:xfrm>
          <a:prstGeom prst="ellipse">
            <a:avLst/>
          </a:prstGeom>
          <a:solidFill>
            <a:srgbClr val="1C3A52"/>
          </a:solidFill>
          <a:ln/>
        </p:spPr>
      </p:sp>
      <p:sp>
        <p:nvSpPr>
          <p:cNvPr id="76" name="Shape 74"/>
          <p:cNvSpPr/>
          <p:nvPr/>
        </p:nvSpPr>
        <p:spPr>
          <a:xfrm>
            <a:off x="9381744" y="3493008"/>
            <a:ext cx="128016" cy="128016"/>
          </a:xfrm>
          <a:prstGeom prst="ellipse">
            <a:avLst/>
          </a:prstGeom>
          <a:solidFill>
            <a:srgbClr val="1C3A52"/>
          </a:solidFill>
          <a:ln/>
        </p:spPr>
      </p:sp>
      <p:sp>
        <p:nvSpPr>
          <p:cNvPr id="77" name="Shape 75"/>
          <p:cNvSpPr/>
          <p:nvPr/>
        </p:nvSpPr>
        <p:spPr>
          <a:xfrm>
            <a:off x="9619488" y="3493008"/>
            <a:ext cx="128016" cy="128016"/>
          </a:xfrm>
          <a:prstGeom prst="ellipse">
            <a:avLst/>
          </a:prstGeom>
          <a:solidFill>
            <a:srgbClr val="E63946"/>
          </a:solidFill>
          <a:ln/>
        </p:spPr>
      </p:sp>
      <p:sp>
        <p:nvSpPr>
          <p:cNvPr id="78" name="Shape 76"/>
          <p:cNvSpPr/>
          <p:nvPr/>
        </p:nvSpPr>
        <p:spPr>
          <a:xfrm>
            <a:off x="9857232" y="3493008"/>
            <a:ext cx="128016" cy="128016"/>
          </a:xfrm>
          <a:prstGeom prst="ellipse">
            <a:avLst/>
          </a:prstGeom>
          <a:solidFill>
            <a:srgbClr val="1C3A52"/>
          </a:solidFill>
          <a:ln/>
        </p:spPr>
      </p:sp>
      <p:sp>
        <p:nvSpPr>
          <p:cNvPr id="79" name="Shape 77"/>
          <p:cNvSpPr/>
          <p:nvPr/>
        </p:nvSpPr>
        <p:spPr>
          <a:xfrm>
            <a:off x="10094976" y="3493008"/>
            <a:ext cx="128016" cy="128016"/>
          </a:xfrm>
          <a:prstGeom prst="ellipse">
            <a:avLst/>
          </a:prstGeom>
          <a:solidFill>
            <a:srgbClr val="1C3A52"/>
          </a:solidFill>
          <a:ln/>
        </p:spPr>
      </p:sp>
      <p:sp>
        <p:nvSpPr>
          <p:cNvPr id="80" name="Shape 78"/>
          <p:cNvSpPr/>
          <p:nvPr/>
        </p:nvSpPr>
        <p:spPr>
          <a:xfrm>
            <a:off x="10332720" y="3493008"/>
            <a:ext cx="128016" cy="128016"/>
          </a:xfrm>
          <a:prstGeom prst="ellipse">
            <a:avLst/>
          </a:prstGeom>
          <a:solidFill>
            <a:srgbClr val="1C3A52"/>
          </a:solidFill>
          <a:ln/>
        </p:spPr>
      </p:sp>
      <p:sp>
        <p:nvSpPr>
          <p:cNvPr id="81" name="Shape 79"/>
          <p:cNvSpPr/>
          <p:nvPr/>
        </p:nvSpPr>
        <p:spPr>
          <a:xfrm>
            <a:off x="10570464" y="3493008"/>
            <a:ext cx="128016" cy="128016"/>
          </a:xfrm>
          <a:prstGeom prst="ellipse">
            <a:avLst/>
          </a:prstGeom>
          <a:solidFill>
            <a:srgbClr val="1C3A52"/>
          </a:solidFill>
          <a:ln/>
        </p:spPr>
      </p:sp>
      <p:sp>
        <p:nvSpPr>
          <p:cNvPr id="82" name="Shape 80"/>
          <p:cNvSpPr/>
          <p:nvPr/>
        </p:nvSpPr>
        <p:spPr>
          <a:xfrm>
            <a:off x="10808208" y="3493008"/>
            <a:ext cx="128016" cy="128016"/>
          </a:xfrm>
          <a:prstGeom prst="ellipse">
            <a:avLst/>
          </a:prstGeom>
          <a:solidFill>
            <a:srgbClr val="1C3A52"/>
          </a:solidFill>
          <a:ln/>
        </p:spPr>
      </p:sp>
      <p:sp>
        <p:nvSpPr>
          <p:cNvPr id="83" name="Shape 81"/>
          <p:cNvSpPr/>
          <p:nvPr/>
        </p:nvSpPr>
        <p:spPr>
          <a:xfrm>
            <a:off x="11045952" y="3493008"/>
            <a:ext cx="128016" cy="128016"/>
          </a:xfrm>
          <a:prstGeom prst="ellipse">
            <a:avLst/>
          </a:prstGeom>
          <a:solidFill>
            <a:srgbClr val="1C3A52"/>
          </a:solidFill>
          <a:ln/>
        </p:spPr>
      </p:sp>
      <p:sp>
        <p:nvSpPr>
          <p:cNvPr id="84" name="Shape 82"/>
          <p:cNvSpPr/>
          <p:nvPr/>
        </p:nvSpPr>
        <p:spPr>
          <a:xfrm>
            <a:off x="11283696" y="3493008"/>
            <a:ext cx="128016" cy="128016"/>
          </a:xfrm>
          <a:prstGeom prst="ellipse">
            <a:avLst/>
          </a:prstGeom>
          <a:solidFill>
            <a:srgbClr val="1C3A52"/>
          </a:solidFill>
          <a:ln/>
        </p:spPr>
      </p:sp>
      <p:sp>
        <p:nvSpPr>
          <p:cNvPr id="85" name="Shape 83"/>
          <p:cNvSpPr/>
          <p:nvPr/>
        </p:nvSpPr>
        <p:spPr>
          <a:xfrm>
            <a:off x="9144000" y="3730752"/>
            <a:ext cx="128016" cy="128016"/>
          </a:xfrm>
          <a:prstGeom prst="ellipse">
            <a:avLst/>
          </a:prstGeom>
          <a:solidFill>
            <a:srgbClr val="1C3A52"/>
          </a:solidFill>
          <a:ln/>
        </p:spPr>
      </p:sp>
      <p:sp>
        <p:nvSpPr>
          <p:cNvPr id="86" name="Shape 84"/>
          <p:cNvSpPr/>
          <p:nvPr/>
        </p:nvSpPr>
        <p:spPr>
          <a:xfrm>
            <a:off x="9381744" y="3730752"/>
            <a:ext cx="128016" cy="128016"/>
          </a:xfrm>
          <a:prstGeom prst="ellipse">
            <a:avLst/>
          </a:prstGeom>
          <a:solidFill>
            <a:srgbClr val="1C3A52"/>
          </a:solidFill>
          <a:ln/>
        </p:spPr>
      </p:sp>
      <p:sp>
        <p:nvSpPr>
          <p:cNvPr id="87" name="Shape 85"/>
          <p:cNvSpPr/>
          <p:nvPr/>
        </p:nvSpPr>
        <p:spPr>
          <a:xfrm>
            <a:off x="9619488" y="3730752"/>
            <a:ext cx="128016" cy="128016"/>
          </a:xfrm>
          <a:prstGeom prst="ellipse">
            <a:avLst/>
          </a:prstGeom>
          <a:solidFill>
            <a:srgbClr val="1C3A52"/>
          </a:solidFill>
          <a:ln/>
        </p:spPr>
      </p:sp>
      <p:sp>
        <p:nvSpPr>
          <p:cNvPr id="88" name="Shape 86"/>
          <p:cNvSpPr/>
          <p:nvPr/>
        </p:nvSpPr>
        <p:spPr>
          <a:xfrm>
            <a:off x="9857232" y="3730752"/>
            <a:ext cx="128016" cy="128016"/>
          </a:xfrm>
          <a:prstGeom prst="ellipse">
            <a:avLst/>
          </a:prstGeom>
          <a:solidFill>
            <a:srgbClr val="1C3A52"/>
          </a:solidFill>
          <a:ln/>
        </p:spPr>
      </p:sp>
      <p:sp>
        <p:nvSpPr>
          <p:cNvPr id="89" name="Shape 87"/>
          <p:cNvSpPr/>
          <p:nvPr/>
        </p:nvSpPr>
        <p:spPr>
          <a:xfrm>
            <a:off x="10094976" y="3730752"/>
            <a:ext cx="128016" cy="128016"/>
          </a:xfrm>
          <a:prstGeom prst="ellipse">
            <a:avLst/>
          </a:prstGeom>
          <a:solidFill>
            <a:srgbClr val="1C3A52"/>
          </a:solidFill>
          <a:ln/>
        </p:spPr>
      </p:sp>
      <p:sp>
        <p:nvSpPr>
          <p:cNvPr id="90" name="Shape 88"/>
          <p:cNvSpPr/>
          <p:nvPr/>
        </p:nvSpPr>
        <p:spPr>
          <a:xfrm>
            <a:off x="10332720" y="3730752"/>
            <a:ext cx="128016" cy="128016"/>
          </a:xfrm>
          <a:prstGeom prst="ellipse">
            <a:avLst/>
          </a:prstGeom>
          <a:solidFill>
            <a:srgbClr val="1C3A52"/>
          </a:solidFill>
          <a:ln/>
        </p:spPr>
      </p:sp>
      <p:sp>
        <p:nvSpPr>
          <p:cNvPr id="91" name="Shape 89"/>
          <p:cNvSpPr/>
          <p:nvPr/>
        </p:nvSpPr>
        <p:spPr>
          <a:xfrm>
            <a:off x="10570464" y="3730752"/>
            <a:ext cx="128016" cy="128016"/>
          </a:xfrm>
          <a:prstGeom prst="ellipse">
            <a:avLst/>
          </a:prstGeom>
          <a:solidFill>
            <a:srgbClr val="1C3A52"/>
          </a:solidFill>
          <a:ln/>
        </p:spPr>
      </p:sp>
      <p:sp>
        <p:nvSpPr>
          <p:cNvPr id="92" name="Shape 90"/>
          <p:cNvSpPr/>
          <p:nvPr/>
        </p:nvSpPr>
        <p:spPr>
          <a:xfrm>
            <a:off x="10808208" y="3730752"/>
            <a:ext cx="128016" cy="128016"/>
          </a:xfrm>
          <a:prstGeom prst="ellipse">
            <a:avLst/>
          </a:prstGeom>
          <a:solidFill>
            <a:srgbClr val="1C3A52"/>
          </a:solidFill>
          <a:ln/>
        </p:spPr>
      </p:sp>
      <p:sp>
        <p:nvSpPr>
          <p:cNvPr id="93" name="Shape 91"/>
          <p:cNvSpPr/>
          <p:nvPr/>
        </p:nvSpPr>
        <p:spPr>
          <a:xfrm>
            <a:off x="11045952" y="3730752"/>
            <a:ext cx="128016" cy="128016"/>
          </a:xfrm>
          <a:prstGeom prst="ellipse">
            <a:avLst/>
          </a:prstGeom>
          <a:solidFill>
            <a:srgbClr val="1C3A52"/>
          </a:solidFill>
          <a:ln/>
        </p:spPr>
      </p:sp>
      <p:sp>
        <p:nvSpPr>
          <p:cNvPr id="94" name="Shape 92"/>
          <p:cNvSpPr/>
          <p:nvPr/>
        </p:nvSpPr>
        <p:spPr>
          <a:xfrm>
            <a:off x="11283696" y="3730752"/>
            <a:ext cx="128016" cy="128016"/>
          </a:xfrm>
          <a:prstGeom prst="ellipse">
            <a:avLst/>
          </a:prstGeom>
          <a:solidFill>
            <a:srgbClr val="1C3A52"/>
          </a:solidFill>
          <a:ln/>
        </p:spPr>
      </p:sp>
      <p:sp>
        <p:nvSpPr>
          <p:cNvPr id="95" name="Shape 93"/>
          <p:cNvSpPr/>
          <p:nvPr/>
        </p:nvSpPr>
        <p:spPr>
          <a:xfrm>
            <a:off x="9144000" y="3968496"/>
            <a:ext cx="128016" cy="128016"/>
          </a:xfrm>
          <a:prstGeom prst="ellipse">
            <a:avLst/>
          </a:prstGeom>
          <a:solidFill>
            <a:srgbClr val="1C3A52"/>
          </a:solidFill>
          <a:ln/>
        </p:spPr>
      </p:sp>
      <p:sp>
        <p:nvSpPr>
          <p:cNvPr id="96" name="Shape 94"/>
          <p:cNvSpPr/>
          <p:nvPr/>
        </p:nvSpPr>
        <p:spPr>
          <a:xfrm>
            <a:off x="9381744" y="3968496"/>
            <a:ext cx="128016" cy="128016"/>
          </a:xfrm>
          <a:prstGeom prst="ellipse">
            <a:avLst/>
          </a:prstGeom>
          <a:solidFill>
            <a:srgbClr val="1C3A52"/>
          </a:solidFill>
          <a:ln/>
        </p:spPr>
      </p:sp>
      <p:sp>
        <p:nvSpPr>
          <p:cNvPr id="97" name="Shape 95"/>
          <p:cNvSpPr/>
          <p:nvPr/>
        </p:nvSpPr>
        <p:spPr>
          <a:xfrm>
            <a:off x="9619488" y="3968496"/>
            <a:ext cx="128016" cy="128016"/>
          </a:xfrm>
          <a:prstGeom prst="ellipse">
            <a:avLst/>
          </a:prstGeom>
          <a:solidFill>
            <a:srgbClr val="1C3A52"/>
          </a:solidFill>
          <a:ln/>
        </p:spPr>
      </p:sp>
      <p:sp>
        <p:nvSpPr>
          <p:cNvPr id="98" name="Shape 96"/>
          <p:cNvSpPr/>
          <p:nvPr/>
        </p:nvSpPr>
        <p:spPr>
          <a:xfrm>
            <a:off x="9857232" y="3968496"/>
            <a:ext cx="128016" cy="128016"/>
          </a:xfrm>
          <a:prstGeom prst="ellipse">
            <a:avLst/>
          </a:prstGeom>
          <a:solidFill>
            <a:srgbClr val="1C3A52"/>
          </a:solidFill>
          <a:ln/>
        </p:spPr>
      </p:sp>
      <p:sp>
        <p:nvSpPr>
          <p:cNvPr id="99" name="Shape 97"/>
          <p:cNvSpPr/>
          <p:nvPr/>
        </p:nvSpPr>
        <p:spPr>
          <a:xfrm>
            <a:off x="10094976" y="3968496"/>
            <a:ext cx="128016" cy="128016"/>
          </a:xfrm>
          <a:prstGeom prst="ellipse">
            <a:avLst/>
          </a:prstGeom>
          <a:solidFill>
            <a:srgbClr val="1C3A52"/>
          </a:solidFill>
          <a:ln/>
        </p:spPr>
      </p:sp>
      <p:sp>
        <p:nvSpPr>
          <p:cNvPr id="100" name="Shape 98"/>
          <p:cNvSpPr/>
          <p:nvPr/>
        </p:nvSpPr>
        <p:spPr>
          <a:xfrm>
            <a:off x="10332720" y="3968496"/>
            <a:ext cx="128016" cy="128016"/>
          </a:xfrm>
          <a:prstGeom prst="ellipse">
            <a:avLst/>
          </a:prstGeom>
          <a:solidFill>
            <a:srgbClr val="1C3A52"/>
          </a:solidFill>
          <a:ln/>
        </p:spPr>
      </p:sp>
      <p:sp>
        <p:nvSpPr>
          <p:cNvPr id="101" name="Shape 99"/>
          <p:cNvSpPr/>
          <p:nvPr/>
        </p:nvSpPr>
        <p:spPr>
          <a:xfrm>
            <a:off x="10570464" y="3968496"/>
            <a:ext cx="128016" cy="128016"/>
          </a:xfrm>
          <a:prstGeom prst="ellipse">
            <a:avLst/>
          </a:prstGeom>
          <a:solidFill>
            <a:srgbClr val="1C3A52"/>
          </a:solidFill>
          <a:ln/>
        </p:spPr>
      </p:sp>
      <p:sp>
        <p:nvSpPr>
          <p:cNvPr id="102" name="Shape 100"/>
          <p:cNvSpPr/>
          <p:nvPr/>
        </p:nvSpPr>
        <p:spPr>
          <a:xfrm>
            <a:off x="10808208" y="3968496"/>
            <a:ext cx="128016" cy="128016"/>
          </a:xfrm>
          <a:prstGeom prst="ellipse">
            <a:avLst/>
          </a:prstGeom>
          <a:solidFill>
            <a:srgbClr val="1C3A52"/>
          </a:solidFill>
          <a:ln/>
        </p:spPr>
      </p:sp>
      <p:sp>
        <p:nvSpPr>
          <p:cNvPr id="103" name="Shape 101"/>
          <p:cNvSpPr/>
          <p:nvPr/>
        </p:nvSpPr>
        <p:spPr>
          <a:xfrm>
            <a:off x="11045952" y="3968496"/>
            <a:ext cx="128016" cy="128016"/>
          </a:xfrm>
          <a:prstGeom prst="ellipse">
            <a:avLst/>
          </a:prstGeom>
          <a:solidFill>
            <a:srgbClr val="1C3A52"/>
          </a:solidFill>
          <a:ln/>
        </p:spPr>
      </p:sp>
      <p:sp>
        <p:nvSpPr>
          <p:cNvPr id="104" name="Shape 102"/>
          <p:cNvSpPr/>
          <p:nvPr/>
        </p:nvSpPr>
        <p:spPr>
          <a:xfrm>
            <a:off x="11283696" y="3968496"/>
            <a:ext cx="128016" cy="128016"/>
          </a:xfrm>
          <a:prstGeom prst="ellipse">
            <a:avLst/>
          </a:prstGeom>
          <a:solidFill>
            <a:srgbClr val="1C3A52"/>
          </a:solidFill>
          <a:ln/>
        </p:spPr>
      </p:sp>
      <p:sp>
        <p:nvSpPr>
          <p:cNvPr id="105" name="Text 103"/>
          <p:cNvSpPr txBox="1"/>
          <p:nvPr/>
        </p:nvSpPr>
        <p:spPr>
          <a:xfrm>
            <a:off x="8778240" y="4434840"/>
            <a:ext cx="3017520" cy="457200"/>
          </a:xfrm>
          <a:prstGeom prst="rect">
            <a:avLst/>
          </a:prstGeom>
          <a:noFill/>
          <a:ln/>
        </p:spPr>
        <p:txBody>
          <a:bodyPr wrap="square" lIns="0" tIns="0" rIns="0" bIns="0" rtlCol="0" anchor="ctr"/>
          <a:lstStyle/>
          <a:p>
            <a:pPr indent="0" marL="0">
              <a:buNone/>
            </a:pPr>
            <a:r>
              <a:rPr lang="en-US" sz="1050" i="1" dirty="0">
                <a:solidFill>
                  <a:srgbClr val="6E8CA0"/>
                </a:solidFill>
                <a:latin typeface="Calibri" pitchFamily="34" charset="0"/>
                <a:ea typeface="Calibri" pitchFamily="34" charset="-122"/>
                <a:cs typeface="Calibri" pitchFamily="34" charset="-120"/>
              </a:rPr>
              <a:t>2 fraud in 100  ·  the needle-in-a-haystack problem</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000" b="1" dirty="0">
                <a:solidFill>
                  <a:srgbClr val="0A2540"/>
                </a:solidFill>
                <a:latin typeface="Cambria" pitchFamily="34" charset="0"/>
                <a:ea typeface="Cambria" pitchFamily="34" charset="-122"/>
                <a:cs typeface="Cambria" pitchFamily="34" charset="-120"/>
              </a:rPr>
              <a:t>Problem framing</a:t>
            </a:r>
            <a:endParaRPr lang="en-US" sz="3000" dirty="0"/>
          </a:p>
        </p:txBody>
      </p:sp>
      <p:sp>
        <p:nvSpPr>
          <p:cNvPr id="3" name="Text 1"/>
          <p:cNvSpPr txBox="1"/>
          <p:nvPr/>
        </p:nvSpPr>
        <p:spPr>
          <a:xfrm>
            <a:off x="548640" y="1280160"/>
            <a:ext cx="6492240" cy="3108960"/>
          </a:xfrm>
          <a:prstGeom prst="rect">
            <a:avLst/>
          </a:prstGeom>
          <a:noFill/>
          <a:ln/>
        </p:spPr>
        <p:txBody>
          <a:bodyPr wrap="square" rtlCol="0" anchor="t"/>
          <a:lstStyle/>
          <a:p>
            <a:pPr indent="0" marL="0">
              <a:lnSpc>
                <a:spcPct val="110000"/>
              </a:lnSpc>
              <a:spcAft>
                <a:spcPts val="1000"/>
              </a:spcAft>
              <a:buNone/>
            </a:pPr>
            <a:r>
              <a:rPr lang="en-US" sz="1500" b="1" dirty="0">
                <a:solidFill>
                  <a:srgbClr val="0A2540"/>
                </a:solidFill>
                <a:latin typeface="Calibri" pitchFamily="34" charset="0"/>
                <a:ea typeface="Calibri" pitchFamily="34" charset="-122"/>
                <a:cs typeface="Calibri" pitchFamily="34" charset="-120"/>
              </a:rPr>
              <a:t>Binary classification with asymmetric cost.</a:t>
            </a:r>
            <a:endParaRPr lang="en-US" sz="1500" dirty="0"/>
          </a:p>
          <a:p>
            <a:pPr indent="0" marL="0">
              <a:lnSpc>
                <a:spcPct val="110000"/>
              </a:lnSpc>
              <a:spcAft>
                <a:spcPts val="1000"/>
              </a:spcAft>
              <a:buNone/>
            </a:pPr>
            <a:r>
              <a:rPr lang="en-US" sz="1500" dirty="0">
                <a:solidFill>
                  <a:srgbClr val="0A2540"/>
                </a:solidFill>
                <a:latin typeface="Calibri" pitchFamily="34" charset="0"/>
                <a:ea typeface="Calibri" pitchFamily="34" charset="-122"/>
                <a:cs typeface="Calibri" pitchFamily="34" charset="-120"/>
              </a:rPr>
              <a:t>Each transaction is labelled fraud (1) or legitimate (0). A missed fraud is a direct loss; a false alarm blocks a real customer. The goal is to maximise fraud caught while keeping false alarms tolerable.</a:t>
            </a:r>
            <a:endParaRPr lang="en-US" sz="1500" dirty="0"/>
          </a:p>
          <a:p>
            <a:pPr indent="0" marL="0">
              <a:lnSpc>
                <a:spcPct val="110000"/>
              </a:lnSpc>
              <a:buNone/>
            </a:pPr>
            <a:r>
              <a:rPr lang="en-US" sz="1500" dirty="0">
                <a:solidFill>
                  <a:srgbClr val="0A2540"/>
                </a:solidFill>
                <a:latin typeface="Calibri" pitchFamily="34" charset="0"/>
                <a:ea typeface="Calibri" pitchFamily="34" charset="-122"/>
                <a:cs typeface="Calibri" pitchFamily="34" charset="-120"/>
              </a:rPr>
              <a:t>Severe class imbalance (~0.17% fraud) makes accuracy meaningless — predicting “legit” always scores 99.8%.</a:t>
            </a:r>
            <a:endParaRPr lang="en-US" sz="1500" dirty="0"/>
          </a:p>
        </p:txBody>
      </p:sp>
      <p:sp>
        <p:nvSpPr>
          <p:cNvPr id="4" name="Shape 2"/>
          <p:cNvSpPr/>
          <p:nvPr/>
        </p:nvSpPr>
        <p:spPr>
          <a:xfrm>
            <a:off x="7498080" y="1463040"/>
            <a:ext cx="4023360" cy="1600200"/>
          </a:xfrm>
          <a:prstGeom prst="roundRect">
            <a:avLst>
              <a:gd name="adj" fmla="val 4571"/>
            </a:avLst>
          </a:prstGeom>
          <a:solidFill>
            <a:srgbClr val="EAF1F5"/>
          </a:solidFill>
          <a:ln/>
          <a:effectLst>
            <a:outerShdw sx="100000" sy="100000" kx="0" ky="0" algn="bl" rotWithShape="0" blurRad="76200" dist="25400" dir="5400000">
              <a:srgbClr val="AAB4BF">
                <a:alpha val="35000"/>
              </a:srgbClr>
            </a:outerShdw>
          </a:effectLst>
        </p:spPr>
      </p:sp>
      <p:sp>
        <p:nvSpPr>
          <p:cNvPr id="5" name="Text 3"/>
          <p:cNvSpPr txBox="1"/>
          <p:nvPr/>
        </p:nvSpPr>
        <p:spPr>
          <a:xfrm>
            <a:off x="7498080" y="1572768"/>
            <a:ext cx="4023360" cy="928116"/>
          </a:xfrm>
          <a:prstGeom prst="rect">
            <a:avLst/>
          </a:prstGeom>
          <a:noFill/>
          <a:ln/>
        </p:spPr>
        <p:txBody>
          <a:bodyPr wrap="square" lIns="0" tIns="0" rIns="0" bIns="0" rtlCol="0" anchor="ctr"/>
          <a:lstStyle/>
          <a:p>
            <a:pPr algn="ctr" indent="0" marL="0">
              <a:buNone/>
            </a:pPr>
            <a:r>
              <a:rPr lang="en-US" sz="4000" b="1" dirty="0">
                <a:solidFill>
                  <a:srgbClr val="E63946"/>
                </a:solidFill>
                <a:latin typeface="Calibri" pitchFamily="34" charset="0"/>
                <a:ea typeface="Calibri" pitchFamily="34" charset="-122"/>
                <a:cs typeface="Calibri" pitchFamily="34" charset="-120"/>
              </a:rPr>
              <a:t>0.17%</a:t>
            </a:r>
            <a:endParaRPr lang="en-US" sz="4000" dirty="0"/>
          </a:p>
        </p:txBody>
      </p:sp>
      <p:sp>
        <p:nvSpPr>
          <p:cNvPr id="6" name="Text 4"/>
          <p:cNvSpPr txBox="1"/>
          <p:nvPr/>
        </p:nvSpPr>
        <p:spPr>
          <a:xfrm>
            <a:off x="7607808" y="2423160"/>
            <a:ext cx="3803904" cy="544068"/>
          </a:xfrm>
          <a:prstGeom prst="rect">
            <a:avLst/>
          </a:prstGeom>
          <a:noFill/>
          <a:ln/>
        </p:spPr>
        <p:txBody>
          <a:bodyPr wrap="square" lIns="0" tIns="0" rIns="0" bIns="0" rtlCol="0" anchor="ctr"/>
          <a:lstStyle/>
          <a:p>
            <a:pPr algn="ctr" indent="0" marL="0">
              <a:buNone/>
            </a:pPr>
            <a:r>
              <a:rPr lang="en-US" sz="1150" dirty="0">
                <a:solidFill>
                  <a:srgbClr val="5F7488"/>
                </a:solidFill>
                <a:latin typeface="Calibri" pitchFamily="34" charset="0"/>
                <a:ea typeface="Calibri" pitchFamily="34" charset="-122"/>
                <a:cs typeface="Calibri" pitchFamily="34" charset="-120"/>
              </a:rPr>
              <a:t>of transactions are fraud</a:t>
            </a:r>
            <a:endParaRPr lang="en-US" sz="1150" dirty="0"/>
          </a:p>
        </p:txBody>
      </p:sp>
      <p:sp>
        <p:nvSpPr>
          <p:cNvPr id="7" name="Shape 5"/>
          <p:cNvSpPr/>
          <p:nvPr/>
        </p:nvSpPr>
        <p:spPr>
          <a:xfrm>
            <a:off x="7498080" y="3246120"/>
            <a:ext cx="1920240" cy="1463040"/>
          </a:xfrm>
          <a:prstGeom prst="roundRect">
            <a:avLst>
              <a:gd name="adj" fmla="val 5000"/>
            </a:avLst>
          </a:prstGeom>
          <a:solidFill>
            <a:srgbClr val="EAF1F5"/>
          </a:solidFill>
          <a:ln/>
          <a:effectLst>
            <a:outerShdw sx="100000" sy="100000" kx="0" ky="0" algn="bl" rotWithShape="0" blurRad="76200" dist="25400" dir="5400000">
              <a:srgbClr val="AAB4BF">
                <a:alpha val="35000"/>
              </a:srgbClr>
            </a:outerShdw>
          </a:effectLst>
        </p:spPr>
      </p:sp>
      <p:sp>
        <p:nvSpPr>
          <p:cNvPr id="8" name="Text 6"/>
          <p:cNvSpPr txBox="1"/>
          <p:nvPr/>
        </p:nvSpPr>
        <p:spPr>
          <a:xfrm>
            <a:off x="7498080" y="3355848"/>
            <a:ext cx="1920240" cy="848563"/>
          </a:xfrm>
          <a:prstGeom prst="rect">
            <a:avLst/>
          </a:prstGeom>
          <a:noFill/>
          <a:ln/>
        </p:spPr>
        <p:txBody>
          <a:bodyPr wrap="square" lIns="0" tIns="0" rIns="0" bIns="0" rtlCol="0" anchor="ctr"/>
          <a:lstStyle/>
          <a:p>
            <a:pPr algn="ctr" indent="0" marL="0">
              <a:buNone/>
            </a:pPr>
            <a:r>
              <a:rPr lang="en-US" sz="4000" b="1" dirty="0">
                <a:solidFill>
                  <a:srgbClr val="1C7293"/>
                </a:solidFill>
                <a:latin typeface="Calibri" pitchFamily="34" charset="0"/>
                <a:ea typeface="Calibri" pitchFamily="34" charset="-122"/>
                <a:cs typeface="Calibri" pitchFamily="34" charset="-120"/>
              </a:rPr>
              <a:t>99.8%</a:t>
            </a:r>
            <a:endParaRPr lang="en-US" sz="4000" dirty="0"/>
          </a:p>
        </p:txBody>
      </p:sp>
      <p:sp>
        <p:nvSpPr>
          <p:cNvPr id="9" name="Text 7"/>
          <p:cNvSpPr txBox="1"/>
          <p:nvPr/>
        </p:nvSpPr>
        <p:spPr>
          <a:xfrm>
            <a:off x="7607808" y="4123944"/>
            <a:ext cx="1700784" cy="497434"/>
          </a:xfrm>
          <a:prstGeom prst="rect">
            <a:avLst/>
          </a:prstGeom>
          <a:noFill/>
          <a:ln/>
        </p:spPr>
        <p:txBody>
          <a:bodyPr wrap="square" lIns="0" tIns="0" rIns="0" bIns="0" rtlCol="0" anchor="ctr"/>
          <a:lstStyle/>
          <a:p>
            <a:pPr algn="ctr" indent="0" marL="0">
              <a:buNone/>
            </a:pPr>
            <a:r>
              <a:rPr lang="en-US" sz="1150" dirty="0">
                <a:solidFill>
                  <a:srgbClr val="5F7488"/>
                </a:solidFill>
                <a:latin typeface="Calibri" pitchFamily="34" charset="0"/>
                <a:ea typeface="Calibri" pitchFamily="34" charset="-122"/>
                <a:cs typeface="Calibri" pitchFamily="34" charset="-120"/>
              </a:rPr>
              <a:t>accuracy of a useless model</a:t>
            </a:r>
            <a:endParaRPr lang="en-US" sz="1150" dirty="0"/>
          </a:p>
        </p:txBody>
      </p:sp>
      <p:sp>
        <p:nvSpPr>
          <p:cNvPr id="10" name="Shape 8"/>
          <p:cNvSpPr/>
          <p:nvPr/>
        </p:nvSpPr>
        <p:spPr>
          <a:xfrm>
            <a:off x="9601200" y="3246120"/>
            <a:ext cx="1920240" cy="1463040"/>
          </a:xfrm>
          <a:prstGeom prst="roundRect">
            <a:avLst>
              <a:gd name="adj" fmla="val 5000"/>
            </a:avLst>
          </a:prstGeom>
          <a:solidFill>
            <a:srgbClr val="EAF1F5"/>
          </a:solidFill>
          <a:ln/>
          <a:effectLst>
            <a:outerShdw sx="100000" sy="100000" kx="0" ky="0" algn="bl" rotWithShape="0" blurRad="76200" dist="25400" dir="5400000">
              <a:srgbClr val="AAB4BF">
                <a:alpha val="35000"/>
              </a:srgbClr>
            </a:outerShdw>
          </a:effectLst>
        </p:spPr>
      </p:sp>
      <p:sp>
        <p:nvSpPr>
          <p:cNvPr id="11" name="Text 9"/>
          <p:cNvSpPr txBox="1"/>
          <p:nvPr/>
        </p:nvSpPr>
        <p:spPr>
          <a:xfrm>
            <a:off x="9601200" y="3355848"/>
            <a:ext cx="1920240" cy="848563"/>
          </a:xfrm>
          <a:prstGeom prst="rect">
            <a:avLst/>
          </a:prstGeom>
          <a:noFill/>
          <a:ln/>
        </p:spPr>
        <p:txBody>
          <a:bodyPr wrap="square" lIns="0" tIns="0" rIns="0" bIns="0" rtlCol="0" anchor="ctr"/>
          <a:lstStyle/>
          <a:p>
            <a:pPr algn="ctr" indent="0" marL="0">
              <a:buNone/>
            </a:pPr>
            <a:r>
              <a:rPr lang="en-US" sz="4000" b="1" dirty="0">
                <a:solidFill>
                  <a:srgbClr val="11A398"/>
                </a:solidFill>
                <a:latin typeface="Calibri" pitchFamily="34" charset="0"/>
                <a:ea typeface="Calibri" pitchFamily="34" charset="-122"/>
                <a:cs typeface="Calibri" pitchFamily="34" charset="-120"/>
              </a:rPr>
              <a:t>AUC-PR</a:t>
            </a:r>
            <a:endParaRPr lang="en-US" sz="4000" dirty="0"/>
          </a:p>
        </p:txBody>
      </p:sp>
      <p:sp>
        <p:nvSpPr>
          <p:cNvPr id="12" name="Text 10"/>
          <p:cNvSpPr txBox="1"/>
          <p:nvPr/>
        </p:nvSpPr>
        <p:spPr>
          <a:xfrm>
            <a:off x="9710928" y="4123944"/>
            <a:ext cx="1700784" cy="497434"/>
          </a:xfrm>
          <a:prstGeom prst="rect">
            <a:avLst/>
          </a:prstGeom>
          <a:noFill/>
          <a:ln/>
        </p:spPr>
        <p:txBody>
          <a:bodyPr wrap="square" lIns="0" tIns="0" rIns="0" bIns="0" rtlCol="0" anchor="ctr"/>
          <a:lstStyle/>
          <a:p>
            <a:pPr algn="ctr" indent="0" marL="0">
              <a:buNone/>
            </a:pPr>
            <a:r>
              <a:rPr lang="en-US" sz="1150" dirty="0">
                <a:solidFill>
                  <a:srgbClr val="5F7488"/>
                </a:solidFill>
                <a:latin typeface="Calibri" pitchFamily="34" charset="0"/>
                <a:ea typeface="Calibri" pitchFamily="34" charset="-122"/>
                <a:cs typeface="Calibri" pitchFamily="34" charset="-120"/>
              </a:rPr>
              <a:t>the metric we optimise</a:t>
            </a:r>
            <a:endParaRPr lang="en-US" sz="1150" dirty="0"/>
          </a:p>
        </p:txBody>
      </p:sp>
      <p:sp>
        <p:nvSpPr>
          <p:cNvPr id="13" name="Text 11"/>
          <p:cNvSpPr txBox="1"/>
          <p:nvPr/>
        </p:nvSpPr>
        <p:spPr>
          <a:xfrm>
            <a:off x="548640" y="6446520"/>
            <a:ext cx="11064240" cy="274320"/>
          </a:xfrm>
          <a:prstGeom prst="rect">
            <a:avLst/>
          </a:prstGeom>
          <a:noFill/>
          <a:ln/>
        </p:spPr>
        <p:txBody>
          <a:bodyPr wrap="square" lIns="0" tIns="0" rIns="0" bIns="0" rtlCol="0" anchor="ctr"/>
          <a:lstStyle/>
          <a:p>
            <a:pPr indent="0" marL="0">
              <a:buNone/>
            </a:pPr>
            <a:r>
              <a:rPr lang="en-US" sz="900" dirty="0">
                <a:solidFill>
                  <a:srgbClr val="5F7488"/>
                </a:solidFill>
                <a:latin typeface="Calibri" pitchFamily="34" charset="0"/>
                <a:ea typeface="Calibri" pitchFamily="34" charset="-122"/>
                <a:cs typeface="Calibri" pitchFamily="34" charset="-120"/>
              </a:rPr>
              <a:t>Fraud Detection  ·  Technical Deck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000" b="1" dirty="0">
                <a:solidFill>
                  <a:srgbClr val="0A2540"/>
                </a:solidFill>
                <a:latin typeface="Cambria" pitchFamily="34" charset="0"/>
                <a:ea typeface="Cambria" pitchFamily="34" charset="-122"/>
                <a:cs typeface="Cambria" pitchFamily="34" charset="-120"/>
              </a:rPr>
              <a:t>The dataset</a:t>
            </a:r>
            <a:endParaRPr lang="en-US" sz="3000" dirty="0"/>
          </a:p>
        </p:txBody>
      </p:sp>
      <p:sp>
        <p:nvSpPr>
          <p:cNvPr id="3" name="Text 1"/>
          <p:cNvSpPr txBox="1"/>
          <p:nvPr/>
        </p:nvSpPr>
        <p:spPr>
          <a:xfrm>
            <a:off x="548640" y="1143000"/>
            <a:ext cx="11064240" cy="640080"/>
          </a:xfrm>
          <a:prstGeom prst="rect">
            <a:avLst/>
          </a:prstGeom>
          <a:noFill/>
          <a:ln/>
        </p:spPr>
        <p:txBody>
          <a:bodyPr wrap="square" lIns="0" tIns="0" rIns="0" bIns="0" rtlCol="0" anchor="ctr"/>
          <a:lstStyle/>
          <a:p>
            <a:pPr indent="0" marL="0">
              <a:buNone/>
            </a:pPr>
            <a:r>
              <a:rPr lang="en-US" sz="1300" dirty="0">
                <a:solidFill>
                  <a:srgbClr val="5F7488"/>
                </a:solidFill>
                <a:latin typeface="Calibri" pitchFamily="34" charset="0"/>
                <a:ea typeface="Calibri" pitchFamily="34" charset="-122"/>
                <a:cs typeface="Calibri" pitchFamily="34" charset="-120"/>
              </a:rPr>
              <a:t>Kaggle Credit Card Fraud (ULB / Worldline) — real European card transactions, Sept 2013. Replace headline figures with your post-deduplication counts.</a:t>
            </a:r>
            <a:endParaRPr lang="en-US" sz="1300" dirty="0"/>
          </a:p>
        </p:txBody>
      </p:sp>
      <p:sp>
        <p:nvSpPr>
          <p:cNvPr id="4" name="Shape 2"/>
          <p:cNvSpPr/>
          <p:nvPr/>
        </p:nvSpPr>
        <p:spPr>
          <a:xfrm>
            <a:off x="548640" y="2011680"/>
            <a:ext cx="2514600" cy="1554480"/>
          </a:xfrm>
          <a:prstGeom prst="roundRect">
            <a:avLst>
              <a:gd name="adj" fmla="val 4706"/>
            </a:avLst>
          </a:prstGeom>
          <a:solidFill>
            <a:srgbClr val="EAF1F5"/>
          </a:solidFill>
          <a:ln/>
          <a:effectLst>
            <a:outerShdw sx="100000" sy="100000" kx="0" ky="0" algn="bl" rotWithShape="0" blurRad="76200" dist="25400" dir="5400000">
              <a:srgbClr val="AAB4BF">
                <a:alpha val="35000"/>
              </a:srgbClr>
            </a:outerShdw>
          </a:effectLst>
        </p:spPr>
      </p:sp>
      <p:sp>
        <p:nvSpPr>
          <p:cNvPr id="5" name="Text 3"/>
          <p:cNvSpPr txBox="1"/>
          <p:nvPr/>
        </p:nvSpPr>
        <p:spPr>
          <a:xfrm>
            <a:off x="548640" y="2121408"/>
            <a:ext cx="2514600" cy="901598"/>
          </a:xfrm>
          <a:prstGeom prst="rect">
            <a:avLst/>
          </a:prstGeom>
          <a:noFill/>
          <a:ln/>
        </p:spPr>
        <p:txBody>
          <a:bodyPr wrap="square" lIns="0" tIns="0" rIns="0" bIns="0" rtlCol="0" anchor="ctr"/>
          <a:lstStyle/>
          <a:p>
            <a:pPr algn="ctr" indent="0" marL="0">
              <a:buNone/>
            </a:pPr>
            <a:r>
              <a:rPr lang="en-US" sz="4000" b="1" dirty="0">
                <a:solidFill>
                  <a:srgbClr val="1C7293"/>
                </a:solidFill>
                <a:latin typeface="Calibri" pitchFamily="34" charset="0"/>
                <a:ea typeface="Calibri" pitchFamily="34" charset="-122"/>
                <a:cs typeface="Calibri" pitchFamily="34" charset="-120"/>
              </a:rPr>
              <a:t>284,807</a:t>
            </a:r>
            <a:endParaRPr lang="en-US" sz="4000" dirty="0"/>
          </a:p>
        </p:txBody>
      </p:sp>
      <p:sp>
        <p:nvSpPr>
          <p:cNvPr id="6" name="Text 4"/>
          <p:cNvSpPr txBox="1"/>
          <p:nvPr/>
        </p:nvSpPr>
        <p:spPr>
          <a:xfrm>
            <a:off x="658368" y="2944368"/>
            <a:ext cx="2295144" cy="528523"/>
          </a:xfrm>
          <a:prstGeom prst="rect">
            <a:avLst/>
          </a:prstGeom>
          <a:noFill/>
          <a:ln/>
        </p:spPr>
        <p:txBody>
          <a:bodyPr wrap="square" lIns="0" tIns="0" rIns="0" bIns="0" rtlCol="0" anchor="ctr"/>
          <a:lstStyle/>
          <a:p>
            <a:pPr algn="ctr" indent="0" marL="0">
              <a:buNone/>
            </a:pPr>
            <a:r>
              <a:rPr lang="en-US" sz="1150" dirty="0">
                <a:solidFill>
                  <a:srgbClr val="5F7488"/>
                </a:solidFill>
                <a:latin typeface="Calibri" pitchFamily="34" charset="0"/>
                <a:ea typeface="Calibri" pitchFamily="34" charset="-122"/>
                <a:cs typeface="Calibri" pitchFamily="34" charset="-120"/>
              </a:rPr>
              <a:t>transactions</a:t>
            </a:r>
            <a:endParaRPr lang="en-US" sz="1150" dirty="0"/>
          </a:p>
        </p:txBody>
      </p:sp>
      <p:sp>
        <p:nvSpPr>
          <p:cNvPr id="7" name="Shape 5"/>
          <p:cNvSpPr/>
          <p:nvPr/>
        </p:nvSpPr>
        <p:spPr>
          <a:xfrm>
            <a:off x="3337560" y="2011680"/>
            <a:ext cx="2514600" cy="1554480"/>
          </a:xfrm>
          <a:prstGeom prst="roundRect">
            <a:avLst>
              <a:gd name="adj" fmla="val 4706"/>
            </a:avLst>
          </a:prstGeom>
          <a:solidFill>
            <a:srgbClr val="EAF1F5"/>
          </a:solidFill>
          <a:ln/>
          <a:effectLst>
            <a:outerShdw sx="100000" sy="100000" kx="0" ky="0" algn="bl" rotWithShape="0" blurRad="76200" dist="25400" dir="5400000">
              <a:srgbClr val="AAB4BF">
                <a:alpha val="35000"/>
              </a:srgbClr>
            </a:outerShdw>
          </a:effectLst>
        </p:spPr>
      </p:sp>
      <p:sp>
        <p:nvSpPr>
          <p:cNvPr id="8" name="Text 6"/>
          <p:cNvSpPr txBox="1"/>
          <p:nvPr/>
        </p:nvSpPr>
        <p:spPr>
          <a:xfrm>
            <a:off x="3337560" y="2121408"/>
            <a:ext cx="2514600" cy="901598"/>
          </a:xfrm>
          <a:prstGeom prst="rect">
            <a:avLst/>
          </a:prstGeom>
          <a:noFill/>
          <a:ln/>
        </p:spPr>
        <p:txBody>
          <a:bodyPr wrap="square" lIns="0" tIns="0" rIns="0" bIns="0" rtlCol="0" anchor="ctr"/>
          <a:lstStyle/>
          <a:p>
            <a:pPr algn="ctr" indent="0" marL="0">
              <a:buNone/>
            </a:pPr>
            <a:r>
              <a:rPr lang="en-US" sz="4000" b="1" dirty="0">
                <a:solidFill>
                  <a:srgbClr val="E63946"/>
                </a:solidFill>
                <a:latin typeface="Calibri" pitchFamily="34" charset="0"/>
                <a:ea typeface="Calibri" pitchFamily="34" charset="-122"/>
                <a:cs typeface="Calibri" pitchFamily="34" charset="-120"/>
              </a:rPr>
              <a:t>492</a:t>
            </a:r>
            <a:endParaRPr lang="en-US" sz="4000" dirty="0"/>
          </a:p>
        </p:txBody>
      </p:sp>
      <p:sp>
        <p:nvSpPr>
          <p:cNvPr id="9" name="Text 7"/>
          <p:cNvSpPr txBox="1"/>
          <p:nvPr/>
        </p:nvSpPr>
        <p:spPr>
          <a:xfrm>
            <a:off x="3447288" y="2944368"/>
            <a:ext cx="2295144" cy="528523"/>
          </a:xfrm>
          <a:prstGeom prst="rect">
            <a:avLst/>
          </a:prstGeom>
          <a:noFill/>
          <a:ln/>
        </p:spPr>
        <p:txBody>
          <a:bodyPr wrap="square" lIns="0" tIns="0" rIns="0" bIns="0" rtlCol="0" anchor="ctr"/>
          <a:lstStyle/>
          <a:p>
            <a:pPr algn="ctr" indent="0" marL="0">
              <a:buNone/>
            </a:pPr>
            <a:r>
              <a:rPr lang="en-US" sz="1150" dirty="0">
                <a:solidFill>
                  <a:srgbClr val="5F7488"/>
                </a:solidFill>
                <a:latin typeface="Calibri" pitchFamily="34" charset="0"/>
                <a:ea typeface="Calibri" pitchFamily="34" charset="-122"/>
                <a:cs typeface="Calibri" pitchFamily="34" charset="-120"/>
              </a:rPr>
              <a:t>fraud cases</a:t>
            </a:r>
            <a:endParaRPr lang="en-US" sz="1150" dirty="0"/>
          </a:p>
        </p:txBody>
      </p:sp>
      <p:sp>
        <p:nvSpPr>
          <p:cNvPr id="10" name="Shape 8"/>
          <p:cNvSpPr/>
          <p:nvPr/>
        </p:nvSpPr>
        <p:spPr>
          <a:xfrm>
            <a:off x="6126480" y="2011680"/>
            <a:ext cx="2514600" cy="1554480"/>
          </a:xfrm>
          <a:prstGeom prst="roundRect">
            <a:avLst>
              <a:gd name="adj" fmla="val 4706"/>
            </a:avLst>
          </a:prstGeom>
          <a:solidFill>
            <a:srgbClr val="EAF1F5"/>
          </a:solidFill>
          <a:ln/>
          <a:effectLst>
            <a:outerShdw sx="100000" sy="100000" kx="0" ky="0" algn="bl" rotWithShape="0" blurRad="76200" dist="25400" dir="5400000">
              <a:srgbClr val="AAB4BF">
                <a:alpha val="35000"/>
              </a:srgbClr>
            </a:outerShdw>
          </a:effectLst>
        </p:spPr>
      </p:sp>
      <p:sp>
        <p:nvSpPr>
          <p:cNvPr id="11" name="Text 9"/>
          <p:cNvSpPr txBox="1"/>
          <p:nvPr/>
        </p:nvSpPr>
        <p:spPr>
          <a:xfrm>
            <a:off x="6126480" y="2121408"/>
            <a:ext cx="2514600" cy="901598"/>
          </a:xfrm>
          <a:prstGeom prst="rect">
            <a:avLst/>
          </a:prstGeom>
          <a:noFill/>
          <a:ln/>
        </p:spPr>
        <p:txBody>
          <a:bodyPr wrap="square" lIns="0" tIns="0" rIns="0" bIns="0" rtlCol="0" anchor="ctr"/>
          <a:lstStyle/>
          <a:p>
            <a:pPr algn="ctr" indent="0" marL="0">
              <a:buNone/>
            </a:pPr>
            <a:r>
              <a:rPr lang="en-US" sz="4000" b="1" dirty="0">
                <a:solidFill>
                  <a:srgbClr val="1C7293"/>
                </a:solidFill>
                <a:latin typeface="Calibri" pitchFamily="34" charset="0"/>
                <a:ea typeface="Calibri" pitchFamily="34" charset="-122"/>
                <a:cs typeface="Calibri" pitchFamily="34" charset="-120"/>
              </a:rPr>
              <a:t>30</a:t>
            </a:r>
            <a:endParaRPr lang="en-US" sz="4000" dirty="0"/>
          </a:p>
        </p:txBody>
      </p:sp>
      <p:sp>
        <p:nvSpPr>
          <p:cNvPr id="12" name="Text 10"/>
          <p:cNvSpPr txBox="1"/>
          <p:nvPr/>
        </p:nvSpPr>
        <p:spPr>
          <a:xfrm>
            <a:off x="6236208" y="2944368"/>
            <a:ext cx="2295144" cy="528523"/>
          </a:xfrm>
          <a:prstGeom prst="rect">
            <a:avLst/>
          </a:prstGeom>
          <a:noFill/>
          <a:ln/>
        </p:spPr>
        <p:txBody>
          <a:bodyPr wrap="square" lIns="0" tIns="0" rIns="0" bIns="0" rtlCol="0" anchor="ctr"/>
          <a:lstStyle/>
          <a:p>
            <a:pPr algn="ctr" indent="0" marL="0">
              <a:buNone/>
            </a:pPr>
            <a:r>
              <a:rPr lang="en-US" sz="1150" dirty="0">
                <a:solidFill>
                  <a:srgbClr val="5F7488"/>
                </a:solidFill>
                <a:latin typeface="Calibri" pitchFamily="34" charset="0"/>
                <a:ea typeface="Calibri" pitchFamily="34" charset="-122"/>
                <a:cs typeface="Calibri" pitchFamily="34" charset="-120"/>
              </a:rPr>
              <a:t>numeric features</a:t>
            </a:r>
            <a:endParaRPr lang="en-US" sz="1150" dirty="0"/>
          </a:p>
        </p:txBody>
      </p:sp>
      <p:sp>
        <p:nvSpPr>
          <p:cNvPr id="13" name="Shape 11"/>
          <p:cNvSpPr/>
          <p:nvPr/>
        </p:nvSpPr>
        <p:spPr>
          <a:xfrm>
            <a:off x="8915400" y="2011680"/>
            <a:ext cx="2514600" cy="1554480"/>
          </a:xfrm>
          <a:prstGeom prst="roundRect">
            <a:avLst>
              <a:gd name="adj" fmla="val 4706"/>
            </a:avLst>
          </a:prstGeom>
          <a:solidFill>
            <a:srgbClr val="EAF1F5"/>
          </a:solidFill>
          <a:ln/>
          <a:effectLst>
            <a:outerShdw sx="100000" sy="100000" kx="0" ky="0" algn="bl" rotWithShape="0" blurRad="76200" dist="25400" dir="5400000">
              <a:srgbClr val="AAB4BF">
                <a:alpha val="35000"/>
              </a:srgbClr>
            </a:outerShdw>
          </a:effectLst>
        </p:spPr>
      </p:sp>
      <p:sp>
        <p:nvSpPr>
          <p:cNvPr id="14" name="Text 12"/>
          <p:cNvSpPr txBox="1"/>
          <p:nvPr/>
        </p:nvSpPr>
        <p:spPr>
          <a:xfrm>
            <a:off x="8915400" y="2121408"/>
            <a:ext cx="2514600" cy="901598"/>
          </a:xfrm>
          <a:prstGeom prst="rect">
            <a:avLst/>
          </a:prstGeom>
          <a:noFill/>
          <a:ln/>
        </p:spPr>
        <p:txBody>
          <a:bodyPr wrap="square" lIns="0" tIns="0" rIns="0" bIns="0" rtlCol="0" anchor="ctr"/>
          <a:lstStyle/>
          <a:p>
            <a:pPr algn="ctr" indent="0" marL="0">
              <a:buNone/>
            </a:pPr>
            <a:r>
              <a:rPr lang="en-US" sz="4000" b="1" dirty="0">
                <a:solidFill>
                  <a:srgbClr val="1C7293"/>
                </a:solidFill>
                <a:latin typeface="Calibri" pitchFamily="34" charset="0"/>
                <a:ea typeface="Calibri" pitchFamily="34" charset="-122"/>
                <a:cs typeface="Calibri" pitchFamily="34" charset="-120"/>
              </a:rPr>
              <a:t>0</a:t>
            </a:r>
            <a:endParaRPr lang="en-US" sz="4000" dirty="0"/>
          </a:p>
        </p:txBody>
      </p:sp>
      <p:sp>
        <p:nvSpPr>
          <p:cNvPr id="15" name="Text 13"/>
          <p:cNvSpPr txBox="1"/>
          <p:nvPr/>
        </p:nvSpPr>
        <p:spPr>
          <a:xfrm>
            <a:off x="9025128" y="2944368"/>
            <a:ext cx="2295144" cy="528523"/>
          </a:xfrm>
          <a:prstGeom prst="rect">
            <a:avLst/>
          </a:prstGeom>
          <a:noFill/>
          <a:ln/>
        </p:spPr>
        <p:txBody>
          <a:bodyPr wrap="square" lIns="0" tIns="0" rIns="0" bIns="0" rtlCol="0" anchor="ctr"/>
          <a:lstStyle/>
          <a:p>
            <a:pPr algn="ctr" indent="0" marL="0">
              <a:buNone/>
            </a:pPr>
            <a:r>
              <a:rPr lang="en-US" sz="1150" dirty="0">
                <a:solidFill>
                  <a:srgbClr val="5F7488"/>
                </a:solidFill>
                <a:latin typeface="Calibri" pitchFamily="34" charset="0"/>
                <a:ea typeface="Calibri" pitchFamily="34" charset="-122"/>
                <a:cs typeface="Calibri" pitchFamily="34" charset="-120"/>
              </a:rPr>
              <a:t>missing values</a:t>
            </a:r>
            <a:endParaRPr lang="en-US" sz="1150" dirty="0"/>
          </a:p>
        </p:txBody>
      </p:sp>
      <p:sp>
        <p:nvSpPr>
          <p:cNvPr id="16" name="Text 14"/>
          <p:cNvSpPr txBox="1"/>
          <p:nvPr/>
        </p:nvSpPr>
        <p:spPr>
          <a:xfrm>
            <a:off x="640080" y="3931920"/>
            <a:ext cx="10972800" cy="1828800"/>
          </a:xfrm>
          <a:prstGeom prst="rect">
            <a:avLst/>
          </a:prstGeom>
          <a:noFill/>
          <a:ln/>
        </p:spPr>
        <p:txBody>
          <a:bodyPr wrap="square" rtlCol="0" anchor="t"/>
          <a:lstStyle/>
          <a:p>
            <a:pPr marL="342900" indent="-342900">
              <a:spcAft>
                <a:spcPts val="800"/>
              </a:spcAft>
              <a:buSzPct val="100000"/>
              <a:buChar char="•"/>
            </a:pPr>
            <a:r>
              <a:rPr lang="en-US" sz="1400" dirty="0">
                <a:solidFill>
                  <a:srgbClr val="0A2540"/>
                </a:solidFill>
                <a:latin typeface="Calibri" pitchFamily="34" charset="0"/>
                <a:ea typeface="Calibri" pitchFamily="34" charset="-122"/>
                <a:cs typeface="Calibri" pitchFamily="34" charset="-120"/>
              </a:rPr>
              <a:t>28 features (V1–V28) are PCA components — anonymised for confidentiality, already scaled.</a:t>
            </a:r>
            <a:endParaRPr lang="en-US" sz="1400" dirty="0"/>
          </a:p>
          <a:p>
            <a:pPr marL="342900" indent="-342900">
              <a:spcAft>
                <a:spcPts val="800"/>
              </a:spcAft>
              <a:buSzPct val="100000"/>
              <a:buChar char="•"/>
            </a:pPr>
            <a:r>
              <a:rPr lang="en-US" sz="1400" dirty="0">
                <a:solidFill>
                  <a:srgbClr val="0A2540"/>
                </a:solidFill>
                <a:latin typeface="Calibri" pitchFamily="34" charset="0"/>
                <a:ea typeface="Calibri" pitchFamily="34" charset="-122"/>
                <a:cs typeface="Calibri" pitchFamily="34" charset="-120"/>
              </a:rPr>
              <a:t>Only Time and Amount are raw; Amount is heavily right-skewed.</a:t>
            </a:r>
            <a:endParaRPr lang="en-US" sz="1400" dirty="0"/>
          </a:p>
          <a:p>
            <a:pPr marL="342900" indent="-342900">
              <a:buSzPct val="100000"/>
              <a:buChar char="•"/>
            </a:pPr>
            <a:r>
              <a:rPr lang="en-US" sz="1400" dirty="0">
                <a:solidFill>
                  <a:srgbClr val="0A2540"/>
                </a:solidFill>
                <a:latin typeface="Calibri" pitchFamily="34" charset="0"/>
                <a:ea typeface="Calibri" pitchFamily="34" charset="-122"/>
                <a:cs typeface="Calibri" pitchFamily="34" charset="-120"/>
              </a:rPr>
              <a:t>Limitation: PCA anonymisation removes interpretability and blocks domain feature engineering.</a:t>
            </a:r>
            <a:endParaRPr lang="en-US" sz="1400" dirty="0"/>
          </a:p>
        </p:txBody>
      </p:sp>
      <p:sp>
        <p:nvSpPr>
          <p:cNvPr id="17" name="Text 15"/>
          <p:cNvSpPr txBox="1"/>
          <p:nvPr/>
        </p:nvSpPr>
        <p:spPr>
          <a:xfrm>
            <a:off x="548640" y="6446520"/>
            <a:ext cx="11064240" cy="274320"/>
          </a:xfrm>
          <a:prstGeom prst="rect">
            <a:avLst/>
          </a:prstGeom>
          <a:noFill/>
          <a:ln/>
        </p:spPr>
        <p:txBody>
          <a:bodyPr wrap="square" lIns="0" tIns="0" rIns="0" bIns="0" rtlCol="0" anchor="ctr"/>
          <a:lstStyle/>
          <a:p>
            <a:pPr indent="0" marL="0">
              <a:buNone/>
            </a:pPr>
            <a:r>
              <a:rPr lang="en-US" sz="900" dirty="0">
                <a:solidFill>
                  <a:srgbClr val="5F7488"/>
                </a:solidFill>
                <a:latin typeface="Calibri" pitchFamily="34" charset="0"/>
                <a:ea typeface="Calibri" pitchFamily="34" charset="-122"/>
                <a:cs typeface="Calibri" pitchFamily="34" charset="-120"/>
              </a:rPr>
              <a:t>Fraud Detection  ·  Technical Deck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000" b="1" dirty="0">
                <a:solidFill>
                  <a:srgbClr val="0A2540"/>
                </a:solidFill>
                <a:latin typeface="Cambria" pitchFamily="34" charset="0"/>
                <a:ea typeface="Cambria" pitchFamily="34" charset="-122"/>
                <a:cs typeface="Cambria" pitchFamily="34" charset="-120"/>
              </a:rPr>
              <a:t>Preprocessing — built to prevent leakage</a:t>
            </a:r>
            <a:endParaRPr lang="en-US" sz="3000" dirty="0"/>
          </a:p>
        </p:txBody>
      </p:sp>
      <p:sp>
        <p:nvSpPr>
          <p:cNvPr id="3" name="Shape 1"/>
          <p:cNvSpPr/>
          <p:nvPr/>
        </p:nvSpPr>
        <p:spPr>
          <a:xfrm>
            <a:off x="548640" y="1463040"/>
            <a:ext cx="475488" cy="475488"/>
          </a:xfrm>
          <a:prstGeom prst="ellipse">
            <a:avLst/>
          </a:prstGeom>
          <a:solidFill>
            <a:srgbClr val="1C7293"/>
          </a:solidFill>
          <a:ln/>
        </p:spPr>
      </p:sp>
      <p:sp>
        <p:nvSpPr>
          <p:cNvPr id="4" name="Text 2"/>
          <p:cNvSpPr txBox="1"/>
          <p:nvPr/>
        </p:nvSpPr>
        <p:spPr>
          <a:xfrm>
            <a:off x="548640" y="1463040"/>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5" name="Text 3"/>
          <p:cNvSpPr txBox="1"/>
          <p:nvPr/>
        </p:nvSpPr>
        <p:spPr>
          <a:xfrm>
            <a:off x="1152144" y="1426464"/>
            <a:ext cx="4791456" cy="310896"/>
          </a:xfrm>
          <a:prstGeom prst="rect">
            <a:avLst/>
          </a:prstGeom>
          <a:noFill/>
          <a:ln/>
        </p:spPr>
        <p:txBody>
          <a:bodyPr wrap="square" lIns="0" tIns="0" rIns="0" bIns="0" rtlCol="0" anchor="ctr"/>
          <a:lstStyle/>
          <a:p>
            <a:pPr indent="0" marL="0">
              <a:buNone/>
            </a:pPr>
            <a:r>
              <a:rPr lang="en-US" sz="1450" b="1" dirty="0">
                <a:solidFill>
                  <a:srgbClr val="0A2540"/>
                </a:solidFill>
                <a:latin typeface="Calibri" pitchFamily="34" charset="0"/>
                <a:ea typeface="Calibri" pitchFamily="34" charset="-122"/>
                <a:cs typeface="Calibri" pitchFamily="34" charset="-120"/>
              </a:rPr>
              <a:t>Deduplicate</a:t>
            </a:r>
            <a:endParaRPr lang="en-US" sz="1450" dirty="0"/>
          </a:p>
        </p:txBody>
      </p:sp>
      <p:sp>
        <p:nvSpPr>
          <p:cNvPr id="6" name="Text 4"/>
          <p:cNvSpPr txBox="1"/>
          <p:nvPr/>
        </p:nvSpPr>
        <p:spPr>
          <a:xfrm>
            <a:off x="1152144" y="1737360"/>
            <a:ext cx="4791456" cy="822960"/>
          </a:xfrm>
          <a:prstGeom prst="rect">
            <a:avLst/>
          </a:prstGeom>
          <a:noFill/>
          <a:ln/>
        </p:spPr>
        <p:txBody>
          <a:bodyPr wrap="square" lIns="0" tIns="0" rIns="0" bIns="0" rtlCol="0" anchor="ctr"/>
          <a:lstStyle/>
          <a:p>
            <a:pPr indent="0" marL="0">
              <a:buNone/>
            </a:pPr>
            <a:r>
              <a:rPr lang="en-US" sz="1150" dirty="0">
                <a:solidFill>
                  <a:srgbClr val="5F7488"/>
                </a:solidFill>
                <a:latin typeface="Calibri" pitchFamily="34" charset="0"/>
                <a:ea typeface="Calibri" pitchFamily="34" charset="-122"/>
                <a:cs typeface="Calibri" pitchFamily="34" charset="-120"/>
              </a:rPr>
              <a:t>Drop exact duplicate rows that would inflate validation scores.</a:t>
            </a:r>
            <a:endParaRPr lang="en-US" sz="1150" dirty="0"/>
          </a:p>
        </p:txBody>
      </p:sp>
      <p:sp>
        <p:nvSpPr>
          <p:cNvPr id="7" name="Shape 5"/>
          <p:cNvSpPr/>
          <p:nvPr/>
        </p:nvSpPr>
        <p:spPr>
          <a:xfrm>
            <a:off x="6126480" y="1463040"/>
            <a:ext cx="475488" cy="475488"/>
          </a:xfrm>
          <a:prstGeom prst="ellipse">
            <a:avLst/>
          </a:prstGeom>
          <a:solidFill>
            <a:srgbClr val="1C7293"/>
          </a:solidFill>
          <a:ln/>
        </p:spPr>
      </p:sp>
      <p:sp>
        <p:nvSpPr>
          <p:cNvPr id="8" name="Text 6"/>
          <p:cNvSpPr txBox="1"/>
          <p:nvPr/>
        </p:nvSpPr>
        <p:spPr>
          <a:xfrm>
            <a:off x="6126480" y="1463040"/>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9" name="Text 7"/>
          <p:cNvSpPr txBox="1"/>
          <p:nvPr/>
        </p:nvSpPr>
        <p:spPr>
          <a:xfrm>
            <a:off x="6729984" y="1426464"/>
            <a:ext cx="4791456" cy="310896"/>
          </a:xfrm>
          <a:prstGeom prst="rect">
            <a:avLst/>
          </a:prstGeom>
          <a:noFill/>
          <a:ln/>
        </p:spPr>
        <p:txBody>
          <a:bodyPr wrap="square" lIns="0" tIns="0" rIns="0" bIns="0" rtlCol="0" anchor="ctr"/>
          <a:lstStyle/>
          <a:p>
            <a:pPr indent="0" marL="0">
              <a:buNone/>
            </a:pPr>
            <a:r>
              <a:rPr lang="en-US" sz="1450" b="1" dirty="0">
                <a:solidFill>
                  <a:srgbClr val="0A2540"/>
                </a:solidFill>
                <a:latin typeface="Calibri" pitchFamily="34" charset="0"/>
                <a:ea typeface="Calibri" pitchFamily="34" charset="-122"/>
                <a:cs typeface="Calibri" pitchFamily="34" charset="-120"/>
              </a:rPr>
              <a:t>Engineer</a:t>
            </a:r>
            <a:endParaRPr lang="en-US" sz="1450" dirty="0"/>
          </a:p>
        </p:txBody>
      </p:sp>
      <p:sp>
        <p:nvSpPr>
          <p:cNvPr id="10" name="Text 8"/>
          <p:cNvSpPr txBox="1"/>
          <p:nvPr/>
        </p:nvSpPr>
        <p:spPr>
          <a:xfrm>
            <a:off x="6729984" y="1737360"/>
            <a:ext cx="4791456" cy="822960"/>
          </a:xfrm>
          <a:prstGeom prst="rect">
            <a:avLst/>
          </a:prstGeom>
          <a:noFill/>
          <a:ln/>
        </p:spPr>
        <p:txBody>
          <a:bodyPr wrap="square" lIns="0" tIns="0" rIns="0" bIns="0" rtlCol="0" anchor="ctr"/>
          <a:lstStyle/>
          <a:p>
            <a:pPr indent="0" marL="0">
              <a:buNone/>
            </a:pPr>
            <a:r>
              <a:rPr lang="en-US" sz="1150" dirty="0">
                <a:solidFill>
                  <a:srgbClr val="5F7488"/>
                </a:solidFill>
                <a:latin typeface="Calibri" pitchFamily="34" charset="0"/>
                <a:ea typeface="Calibri" pitchFamily="34" charset="-122"/>
                <a:cs typeface="Calibri" pitchFamily="34" charset="-120"/>
              </a:rPr>
              <a:t>Derive Hour from Time, log-scale Amount, bin amounts.</a:t>
            </a:r>
            <a:endParaRPr lang="en-US" sz="1150" dirty="0"/>
          </a:p>
        </p:txBody>
      </p:sp>
      <p:sp>
        <p:nvSpPr>
          <p:cNvPr id="11" name="Shape 9"/>
          <p:cNvSpPr/>
          <p:nvPr/>
        </p:nvSpPr>
        <p:spPr>
          <a:xfrm>
            <a:off x="548640" y="2880360"/>
            <a:ext cx="475488" cy="475488"/>
          </a:xfrm>
          <a:prstGeom prst="ellipse">
            <a:avLst/>
          </a:prstGeom>
          <a:solidFill>
            <a:srgbClr val="1C7293"/>
          </a:solidFill>
          <a:ln/>
        </p:spPr>
      </p:sp>
      <p:sp>
        <p:nvSpPr>
          <p:cNvPr id="12" name="Text 10"/>
          <p:cNvSpPr txBox="1"/>
          <p:nvPr/>
        </p:nvSpPr>
        <p:spPr>
          <a:xfrm>
            <a:off x="548640" y="2880360"/>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3" name="Text 11"/>
          <p:cNvSpPr txBox="1"/>
          <p:nvPr/>
        </p:nvSpPr>
        <p:spPr>
          <a:xfrm>
            <a:off x="1152144" y="2843784"/>
            <a:ext cx="4791456" cy="310896"/>
          </a:xfrm>
          <a:prstGeom prst="rect">
            <a:avLst/>
          </a:prstGeom>
          <a:noFill/>
          <a:ln/>
        </p:spPr>
        <p:txBody>
          <a:bodyPr wrap="square" lIns="0" tIns="0" rIns="0" bIns="0" rtlCol="0" anchor="ctr"/>
          <a:lstStyle/>
          <a:p>
            <a:pPr indent="0" marL="0">
              <a:buNone/>
            </a:pPr>
            <a:r>
              <a:rPr lang="en-US" sz="1450" b="1" dirty="0">
                <a:solidFill>
                  <a:srgbClr val="0A2540"/>
                </a:solidFill>
                <a:latin typeface="Calibri" pitchFamily="34" charset="0"/>
                <a:ea typeface="Calibri" pitchFamily="34" charset="-122"/>
                <a:cs typeface="Calibri" pitchFamily="34" charset="-120"/>
              </a:rPr>
              <a:t>Split first</a:t>
            </a:r>
            <a:endParaRPr lang="en-US" sz="1450" dirty="0"/>
          </a:p>
        </p:txBody>
      </p:sp>
      <p:sp>
        <p:nvSpPr>
          <p:cNvPr id="14" name="Text 12"/>
          <p:cNvSpPr txBox="1"/>
          <p:nvPr/>
        </p:nvSpPr>
        <p:spPr>
          <a:xfrm>
            <a:off x="1152144" y="3154680"/>
            <a:ext cx="4791456" cy="822960"/>
          </a:xfrm>
          <a:prstGeom prst="rect">
            <a:avLst/>
          </a:prstGeom>
          <a:noFill/>
          <a:ln/>
        </p:spPr>
        <p:txBody>
          <a:bodyPr wrap="square" lIns="0" tIns="0" rIns="0" bIns="0" rtlCol="0" anchor="ctr"/>
          <a:lstStyle/>
          <a:p>
            <a:pPr indent="0" marL="0">
              <a:buNone/>
            </a:pPr>
            <a:r>
              <a:rPr lang="en-US" sz="1150" dirty="0">
                <a:solidFill>
                  <a:srgbClr val="5F7488"/>
                </a:solidFill>
                <a:latin typeface="Calibri" pitchFamily="34" charset="0"/>
                <a:ea typeface="Calibri" pitchFamily="34" charset="-122"/>
                <a:cs typeface="Calibri" pitchFamily="34" charset="-120"/>
              </a:rPr>
              <a:t>Stratified 80/20 split before any transformation.</a:t>
            </a:r>
            <a:endParaRPr lang="en-US" sz="1150" dirty="0"/>
          </a:p>
        </p:txBody>
      </p:sp>
      <p:sp>
        <p:nvSpPr>
          <p:cNvPr id="15" name="Shape 13"/>
          <p:cNvSpPr/>
          <p:nvPr/>
        </p:nvSpPr>
        <p:spPr>
          <a:xfrm>
            <a:off x="6126480" y="2880360"/>
            <a:ext cx="475488" cy="475488"/>
          </a:xfrm>
          <a:prstGeom prst="ellipse">
            <a:avLst/>
          </a:prstGeom>
          <a:solidFill>
            <a:srgbClr val="1C7293"/>
          </a:solidFill>
          <a:ln/>
        </p:spPr>
      </p:sp>
      <p:sp>
        <p:nvSpPr>
          <p:cNvPr id="16" name="Text 14"/>
          <p:cNvSpPr txBox="1"/>
          <p:nvPr/>
        </p:nvSpPr>
        <p:spPr>
          <a:xfrm>
            <a:off x="6126480" y="2880360"/>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Text 15"/>
          <p:cNvSpPr txBox="1"/>
          <p:nvPr/>
        </p:nvSpPr>
        <p:spPr>
          <a:xfrm>
            <a:off x="6729984" y="2843784"/>
            <a:ext cx="4791456" cy="310896"/>
          </a:xfrm>
          <a:prstGeom prst="rect">
            <a:avLst/>
          </a:prstGeom>
          <a:noFill/>
          <a:ln/>
        </p:spPr>
        <p:txBody>
          <a:bodyPr wrap="square" lIns="0" tIns="0" rIns="0" bIns="0" rtlCol="0" anchor="ctr"/>
          <a:lstStyle/>
          <a:p>
            <a:pPr indent="0" marL="0">
              <a:buNone/>
            </a:pPr>
            <a:r>
              <a:rPr lang="en-US" sz="1450" b="1" dirty="0">
                <a:solidFill>
                  <a:srgbClr val="0A2540"/>
                </a:solidFill>
                <a:latin typeface="Calibri" pitchFamily="34" charset="0"/>
                <a:ea typeface="Calibri" pitchFamily="34" charset="-122"/>
                <a:cs typeface="Calibri" pitchFamily="34" charset="-120"/>
              </a:rPr>
              <a:t>Fit on train</a:t>
            </a:r>
            <a:endParaRPr lang="en-US" sz="1450" dirty="0"/>
          </a:p>
        </p:txBody>
      </p:sp>
      <p:sp>
        <p:nvSpPr>
          <p:cNvPr id="18" name="Text 16"/>
          <p:cNvSpPr txBox="1"/>
          <p:nvPr/>
        </p:nvSpPr>
        <p:spPr>
          <a:xfrm>
            <a:off x="6729984" y="3154680"/>
            <a:ext cx="4791456" cy="822960"/>
          </a:xfrm>
          <a:prstGeom prst="rect">
            <a:avLst/>
          </a:prstGeom>
          <a:noFill/>
          <a:ln/>
        </p:spPr>
        <p:txBody>
          <a:bodyPr wrap="square" lIns="0" tIns="0" rIns="0" bIns="0" rtlCol="0" anchor="ctr"/>
          <a:lstStyle/>
          <a:p>
            <a:pPr indent="0" marL="0">
              <a:buNone/>
            </a:pPr>
            <a:r>
              <a:rPr lang="en-US" sz="1150" dirty="0">
                <a:solidFill>
                  <a:srgbClr val="5F7488"/>
                </a:solidFill>
                <a:latin typeface="Calibri" pitchFamily="34" charset="0"/>
                <a:ea typeface="Calibri" pitchFamily="34" charset="-122"/>
                <a:cs typeface="Calibri" pitchFamily="34" charset="-120"/>
              </a:rPr>
              <a:t>RobustScaler fit on train only, applied to test.</a:t>
            </a:r>
            <a:endParaRPr lang="en-US" sz="1150" dirty="0"/>
          </a:p>
        </p:txBody>
      </p:sp>
      <p:sp>
        <p:nvSpPr>
          <p:cNvPr id="19" name="Shape 17"/>
          <p:cNvSpPr/>
          <p:nvPr/>
        </p:nvSpPr>
        <p:spPr>
          <a:xfrm>
            <a:off x="548640" y="4526280"/>
            <a:ext cx="11064240" cy="1143000"/>
          </a:xfrm>
          <a:prstGeom prst="roundRect">
            <a:avLst>
              <a:gd name="adj" fmla="val 6400"/>
            </a:avLst>
          </a:prstGeom>
          <a:solidFill>
            <a:srgbClr val="0A2540"/>
          </a:solidFill>
          <a:ln/>
        </p:spPr>
      </p:sp>
      <p:sp>
        <p:nvSpPr>
          <p:cNvPr id="20" name="Text 18"/>
          <p:cNvSpPr txBox="1"/>
          <p:nvPr/>
        </p:nvSpPr>
        <p:spPr>
          <a:xfrm>
            <a:off x="822960" y="4663440"/>
            <a:ext cx="10515600" cy="868680"/>
          </a:xfrm>
          <a:prstGeom prst="rect">
            <a:avLst/>
          </a:prstGeom>
          <a:noFill/>
          <a:ln/>
        </p:spPr>
        <p:txBody>
          <a:bodyPr wrap="square" rtlCol="0" anchor="ctr"/>
          <a:lstStyle/>
          <a:p>
            <a:pPr indent="0" marL="0">
              <a:buNone/>
            </a:pPr>
            <a:r>
              <a:rPr lang="en-US" sz="1350" b="1" dirty="0">
                <a:solidFill>
                  <a:srgbClr val="11A398"/>
                </a:solidFill>
                <a:latin typeface="Calibri" pitchFamily="34" charset="0"/>
                <a:ea typeface="Calibri" pitchFamily="34" charset="-122"/>
                <a:cs typeface="Calibri" pitchFamily="34" charset="-120"/>
              </a:rPr>
              <a:t>Why it matters:  </a:t>
            </a:r>
            <a:pPr indent="0" marL="0">
              <a:buNone/>
            </a:pPr>
            <a:r>
              <a:rPr lang="en-US" sz="1350" dirty="0">
                <a:solidFill>
                  <a:srgbClr val="D7E6EE"/>
                </a:solidFill>
                <a:latin typeface="Calibri" pitchFamily="34" charset="0"/>
                <a:ea typeface="Calibri" pitchFamily="34" charset="-122"/>
                <a:cs typeface="Calibri" pitchFamily="34" charset="-120"/>
              </a:rPr>
              <a:t>scalers, feature selection and threshold tuning all “learn” from data. Fitting them on the full set leaks test information and is the most common capstone mistake. Resampling (SMOTE) stays inside CV folds.</a:t>
            </a:r>
            <a:endParaRPr lang="en-US" sz="1350" dirty="0"/>
          </a:p>
        </p:txBody>
      </p:sp>
      <p:sp>
        <p:nvSpPr>
          <p:cNvPr id="21" name="Text 19"/>
          <p:cNvSpPr txBox="1"/>
          <p:nvPr/>
        </p:nvSpPr>
        <p:spPr>
          <a:xfrm>
            <a:off x="548640" y="6446520"/>
            <a:ext cx="11064240" cy="274320"/>
          </a:xfrm>
          <a:prstGeom prst="rect">
            <a:avLst/>
          </a:prstGeom>
          <a:noFill/>
          <a:ln/>
        </p:spPr>
        <p:txBody>
          <a:bodyPr wrap="square" lIns="0" tIns="0" rIns="0" bIns="0" rtlCol="0" anchor="ctr"/>
          <a:lstStyle/>
          <a:p>
            <a:pPr indent="0" marL="0">
              <a:buNone/>
            </a:pPr>
            <a:r>
              <a:rPr lang="en-US" sz="900" dirty="0">
                <a:solidFill>
                  <a:srgbClr val="5F7488"/>
                </a:solidFill>
                <a:latin typeface="Calibri" pitchFamily="34" charset="0"/>
                <a:ea typeface="Calibri" pitchFamily="34" charset="-122"/>
                <a:cs typeface="Calibri" pitchFamily="34" charset="-120"/>
              </a:rPr>
              <a:t>Fraud Detection  ·  Technical Deck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000" b="1" dirty="0">
                <a:solidFill>
                  <a:srgbClr val="0A2540"/>
                </a:solidFill>
                <a:latin typeface="Cambria" pitchFamily="34" charset="0"/>
                <a:ea typeface="Cambria" pitchFamily="34" charset="-122"/>
                <a:cs typeface="Cambria" pitchFamily="34" charset="-120"/>
              </a:rPr>
              <a:t>Handling the imbalance</a:t>
            </a:r>
            <a:endParaRPr lang="en-US" sz="3000" dirty="0"/>
          </a:p>
        </p:txBody>
      </p:sp>
      <p:sp>
        <p:nvSpPr>
          <p:cNvPr id="3" name="Shape 1"/>
          <p:cNvSpPr/>
          <p:nvPr/>
        </p:nvSpPr>
        <p:spPr>
          <a:xfrm>
            <a:off x="548640" y="1417320"/>
            <a:ext cx="5394960" cy="1874520"/>
          </a:xfrm>
          <a:prstGeom prst="roundRect">
            <a:avLst>
              <a:gd name="adj" fmla="val 3902"/>
            </a:avLst>
          </a:prstGeom>
          <a:solidFill>
            <a:srgbClr val="EAF1F5"/>
          </a:solidFill>
          <a:ln/>
        </p:spPr>
      </p:sp>
      <p:sp>
        <p:nvSpPr>
          <p:cNvPr id="4" name="Shape 2"/>
          <p:cNvSpPr/>
          <p:nvPr/>
        </p:nvSpPr>
        <p:spPr>
          <a:xfrm>
            <a:off x="822960" y="1691640"/>
            <a:ext cx="384048" cy="384048"/>
          </a:xfrm>
          <a:prstGeom prst="ellipse">
            <a:avLst/>
          </a:prstGeom>
          <a:solidFill>
            <a:srgbClr val="11A398"/>
          </a:solidFill>
          <a:ln/>
        </p:spPr>
      </p:sp>
      <p:sp>
        <p:nvSpPr>
          <p:cNvPr id="5" name="Text 3"/>
          <p:cNvSpPr txBox="1"/>
          <p:nvPr/>
        </p:nvSpPr>
        <p:spPr>
          <a:xfrm>
            <a:off x="822960" y="16916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371600" y="1673352"/>
            <a:ext cx="4389120" cy="365760"/>
          </a:xfrm>
          <a:prstGeom prst="rect">
            <a:avLst/>
          </a:prstGeom>
          <a:noFill/>
          <a:ln/>
        </p:spPr>
        <p:txBody>
          <a:bodyPr wrap="square" lIns="0" tIns="0" rIns="0" bIns="0" rtlCol="0" anchor="ctr"/>
          <a:lstStyle/>
          <a:p>
            <a:pPr indent="0" marL="0">
              <a:buNone/>
            </a:pPr>
            <a:r>
              <a:rPr lang="en-US" sz="1600" b="1" dirty="0">
                <a:solidFill>
                  <a:srgbClr val="0A2540"/>
                </a:solidFill>
                <a:latin typeface="Calibri" pitchFamily="34" charset="0"/>
                <a:ea typeface="Calibri" pitchFamily="34" charset="-122"/>
                <a:cs typeface="Calibri" pitchFamily="34" charset="-120"/>
              </a:rPr>
              <a:t>Class weights</a:t>
            </a:r>
            <a:endParaRPr lang="en-US" sz="1600" dirty="0"/>
          </a:p>
        </p:txBody>
      </p:sp>
      <p:sp>
        <p:nvSpPr>
          <p:cNvPr id="7" name="Text 5"/>
          <p:cNvSpPr txBox="1"/>
          <p:nvPr/>
        </p:nvSpPr>
        <p:spPr>
          <a:xfrm>
            <a:off x="822960" y="2258568"/>
            <a:ext cx="4846320" cy="868680"/>
          </a:xfrm>
          <a:prstGeom prst="rect">
            <a:avLst/>
          </a:prstGeom>
          <a:noFill/>
          <a:ln/>
        </p:spPr>
        <p:txBody>
          <a:bodyPr wrap="square" lIns="0" tIns="0" rIns="0" bIns="0" rtlCol="0" anchor="t"/>
          <a:lstStyle/>
          <a:p>
            <a:pPr indent="0" marL="0">
              <a:buNone/>
            </a:pPr>
            <a:r>
              <a:rPr lang="en-US" sz="1300" dirty="0">
                <a:solidFill>
                  <a:srgbClr val="5F7488"/>
                </a:solidFill>
                <a:latin typeface="Calibri" pitchFamily="34" charset="0"/>
                <a:ea typeface="Calibri" pitchFamily="34" charset="-122"/>
                <a:cs typeface="Calibri" pitchFamily="34" charset="-120"/>
              </a:rPr>
              <a:t>balanced weights / scale_pos_weight so the rare fraud class isn’t ignored.</a:t>
            </a:r>
            <a:endParaRPr lang="en-US" sz="1300" dirty="0"/>
          </a:p>
        </p:txBody>
      </p:sp>
      <p:sp>
        <p:nvSpPr>
          <p:cNvPr id="8" name="Shape 6"/>
          <p:cNvSpPr/>
          <p:nvPr/>
        </p:nvSpPr>
        <p:spPr>
          <a:xfrm>
            <a:off x="6126480" y="1417320"/>
            <a:ext cx="5394960" cy="1874520"/>
          </a:xfrm>
          <a:prstGeom prst="roundRect">
            <a:avLst>
              <a:gd name="adj" fmla="val 3902"/>
            </a:avLst>
          </a:prstGeom>
          <a:solidFill>
            <a:srgbClr val="EAF1F5"/>
          </a:solidFill>
          <a:ln/>
        </p:spPr>
      </p:sp>
      <p:sp>
        <p:nvSpPr>
          <p:cNvPr id="9" name="Shape 7"/>
          <p:cNvSpPr/>
          <p:nvPr/>
        </p:nvSpPr>
        <p:spPr>
          <a:xfrm>
            <a:off x="6400800" y="1691640"/>
            <a:ext cx="384048" cy="384048"/>
          </a:xfrm>
          <a:prstGeom prst="ellipse">
            <a:avLst/>
          </a:prstGeom>
          <a:solidFill>
            <a:srgbClr val="11A398"/>
          </a:solidFill>
          <a:ln/>
        </p:spPr>
      </p:sp>
      <p:sp>
        <p:nvSpPr>
          <p:cNvPr id="10" name="Text 8"/>
          <p:cNvSpPr txBox="1"/>
          <p:nvPr/>
        </p:nvSpPr>
        <p:spPr>
          <a:xfrm>
            <a:off x="6400800" y="169164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6949440" y="1673352"/>
            <a:ext cx="4389120" cy="365760"/>
          </a:xfrm>
          <a:prstGeom prst="rect">
            <a:avLst/>
          </a:prstGeom>
          <a:noFill/>
          <a:ln/>
        </p:spPr>
        <p:txBody>
          <a:bodyPr wrap="square" lIns="0" tIns="0" rIns="0" bIns="0" rtlCol="0" anchor="ctr"/>
          <a:lstStyle/>
          <a:p>
            <a:pPr indent="0" marL="0">
              <a:buNone/>
            </a:pPr>
            <a:r>
              <a:rPr lang="en-US" sz="1600" b="1" dirty="0">
                <a:solidFill>
                  <a:srgbClr val="0A2540"/>
                </a:solidFill>
                <a:latin typeface="Calibri" pitchFamily="34" charset="0"/>
                <a:ea typeface="Calibri" pitchFamily="34" charset="-122"/>
                <a:cs typeface="Calibri" pitchFamily="34" charset="-120"/>
              </a:rPr>
              <a:t>Threshold tuning</a:t>
            </a:r>
            <a:endParaRPr lang="en-US" sz="1600" dirty="0"/>
          </a:p>
        </p:txBody>
      </p:sp>
      <p:sp>
        <p:nvSpPr>
          <p:cNvPr id="12" name="Text 10"/>
          <p:cNvSpPr txBox="1"/>
          <p:nvPr/>
        </p:nvSpPr>
        <p:spPr>
          <a:xfrm>
            <a:off x="6400800" y="2258568"/>
            <a:ext cx="4846320" cy="868680"/>
          </a:xfrm>
          <a:prstGeom prst="rect">
            <a:avLst/>
          </a:prstGeom>
          <a:noFill/>
          <a:ln/>
        </p:spPr>
        <p:txBody>
          <a:bodyPr wrap="square" lIns="0" tIns="0" rIns="0" bIns="0" rtlCol="0" anchor="t"/>
          <a:lstStyle/>
          <a:p>
            <a:pPr indent="0" marL="0">
              <a:buNone/>
            </a:pPr>
            <a:r>
              <a:rPr lang="en-US" sz="1300" dirty="0">
                <a:solidFill>
                  <a:srgbClr val="5F7488"/>
                </a:solidFill>
                <a:latin typeface="Calibri" pitchFamily="34" charset="0"/>
                <a:ea typeface="Calibri" pitchFamily="34" charset="-122"/>
                <a:cs typeface="Calibri" pitchFamily="34" charset="-120"/>
              </a:rPr>
              <a:t>operating point tuned for F2 on train CV, not the default 0.5 — favours recall.</a:t>
            </a:r>
            <a:endParaRPr lang="en-US" sz="1300" dirty="0"/>
          </a:p>
        </p:txBody>
      </p:sp>
      <p:sp>
        <p:nvSpPr>
          <p:cNvPr id="13" name="Shape 11"/>
          <p:cNvSpPr/>
          <p:nvPr/>
        </p:nvSpPr>
        <p:spPr>
          <a:xfrm>
            <a:off x="548640" y="3566160"/>
            <a:ext cx="5394960" cy="1874520"/>
          </a:xfrm>
          <a:prstGeom prst="roundRect">
            <a:avLst>
              <a:gd name="adj" fmla="val 3902"/>
            </a:avLst>
          </a:prstGeom>
          <a:solidFill>
            <a:srgbClr val="EAF1F5"/>
          </a:solidFill>
          <a:ln/>
        </p:spPr>
      </p:sp>
      <p:sp>
        <p:nvSpPr>
          <p:cNvPr id="14" name="Shape 12"/>
          <p:cNvSpPr/>
          <p:nvPr/>
        </p:nvSpPr>
        <p:spPr>
          <a:xfrm>
            <a:off x="822960" y="3840480"/>
            <a:ext cx="384048" cy="384048"/>
          </a:xfrm>
          <a:prstGeom prst="ellipse">
            <a:avLst/>
          </a:prstGeom>
          <a:solidFill>
            <a:srgbClr val="11A398"/>
          </a:solidFill>
          <a:ln/>
        </p:spPr>
      </p:sp>
      <p:sp>
        <p:nvSpPr>
          <p:cNvPr id="15" name="Text 13"/>
          <p:cNvSpPr txBox="1"/>
          <p:nvPr/>
        </p:nvSpPr>
        <p:spPr>
          <a:xfrm>
            <a:off x="822960" y="38404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1371600" y="3822192"/>
            <a:ext cx="4389120" cy="365760"/>
          </a:xfrm>
          <a:prstGeom prst="rect">
            <a:avLst/>
          </a:prstGeom>
          <a:noFill/>
          <a:ln/>
        </p:spPr>
        <p:txBody>
          <a:bodyPr wrap="square" lIns="0" tIns="0" rIns="0" bIns="0" rtlCol="0" anchor="ctr"/>
          <a:lstStyle/>
          <a:p>
            <a:pPr indent="0" marL="0">
              <a:buNone/>
            </a:pPr>
            <a:r>
              <a:rPr lang="en-US" sz="1600" b="1" dirty="0">
                <a:solidFill>
                  <a:srgbClr val="0A2540"/>
                </a:solidFill>
                <a:latin typeface="Calibri" pitchFamily="34" charset="0"/>
                <a:ea typeface="Calibri" pitchFamily="34" charset="-122"/>
                <a:cs typeface="Calibri" pitchFamily="34" charset="-120"/>
              </a:rPr>
              <a:t>Right metrics</a:t>
            </a:r>
            <a:endParaRPr lang="en-US" sz="1600" dirty="0"/>
          </a:p>
        </p:txBody>
      </p:sp>
      <p:sp>
        <p:nvSpPr>
          <p:cNvPr id="17" name="Text 15"/>
          <p:cNvSpPr txBox="1"/>
          <p:nvPr/>
        </p:nvSpPr>
        <p:spPr>
          <a:xfrm>
            <a:off x="822960" y="4407408"/>
            <a:ext cx="4846320" cy="868680"/>
          </a:xfrm>
          <a:prstGeom prst="rect">
            <a:avLst/>
          </a:prstGeom>
          <a:noFill/>
          <a:ln/>
        </p:spPr>
        <p:txBody>
          <a:bodyPr wrap="square" lIns="0" tIns="0" rIns="0" bIns="0" rtlCol="0" anchor="t"/>
          <a:lstStyle/>
          <a:p>
            <a:pPr indent="0" marL="0">
              <a:buNone/>
            </a:pPr>
            <a:r>
              <a:rPr lang="en-US" sz="1300" dirty="0">
                <a:solidFill>
                  <a:srgbClr val="5F7488"/>
                </a:solidFill>
                <a:latin typeface="Calibri" pitchFamily="34" charset="0"/>
                <a:ea typeface="Calibri" pitchFamily="34" charset="-122"/>
                <a:cs typeface="Calibri" pitchFamily="34" charset="-120"/>
              </a:rPr>
              <a:t>AUC-PR primary; precision, recall, F1/F2, ROC-AUC support it. Accuracy rejected.</a:t>
            </a:r>
            <a:endParaRPr lang="en-US" sz="1300" dirty="0"/>
          </a:p>
        </p:txBody>
      </p:sp>
      <p:sp>
        <p:nvSpPr>
          <p:cNvPr id="18" name="Shape 16"/>
          <p:cNvSpPr/>
          <p:nvPr/>
        </p:nvSpPr>
        <p:spPr>
          <a:xfrm>
            <a:off x="6126480" y="3566160"/>
            <a:ext cx="5394960" cy="1874520"/>
          </a:xfrm>
          <a:prstGeom prst="roundRect">
            <a:avLst>
              <a:gd name="adj" fmla="val 3902"/>
            </a:avLst>
          </a:prstGeom>
          <a:solidFill>
            <a:srgbClr val="EAF1F5"/>
          </a:solidFill>
          <a:ln/>
        </p:spPr>
      </p:sp>
      <p:sp>
        <p:nvSpPr>
          <p:cNvPr id="19" name="Shape 17"/>
          <p:cNvSpPr/>
          <p:nvPr/>
        </p:nvSpPr>
        <p:spPr>
          <a:xfrm>
            <a:off x="6400800" y="3840480"/>
            <a:ext cx="384048" cy="384048"/>
          </a:xfrm>
          <a:prstGeom prst="ellipse">
            <a:avLst/>
          </a:prstGeom>
          <a:solidFill>
            <a:srgbClr val="11A398"/>
          </a:solidFill>
          <a:ln/>
        </p:spPr>
      </p:sp>
      <p:sp>
        <p:nvSpPr>
          <p:cNvPr id="20" name="Text 18"/>
          <p:cNvSpPr txBox="1"/>
          <p:nvPr/>
        </p:nvSpPr>
        <p:spPr>
          <a:xfrm>
            <a:off x="6400800" y="384048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txBox="1"/>
          <p:nvPr/>
        </p:nvSpPr>
        <p:spPr>
          <a:xfrm>
            <a:off x="6949440" y="3822192"/>
            <a:ext cx="4389120" cy="365760"/>
          </a:xfrm>
          <a:prstGeom prst="rect">
            <a:avLst/>
          </a:prstGeom>
          <a:noFill/>
          <a:ln/>
        </p:spPr>
        <p:txBody>
          <a:bodyPr wrap="square" lIns="0" tIns="0" rIns="0" bIns="0" rtlCol="0" anchor="ctr"/>
          <a:lstStyle/>
          <a:p>
            <a:pPr indent="0" marL="0">
              <a:buNone/>
            </a:pPr>
            <a:r>
              <a:rPr lang="en-US" sz="1600" b="1" dirty="0">
                <a:solidFill>
                  <a:srgbClr val="0A2540"/>
                </a:solidFill>
                <a:latin typeface="Calibri" pitchFamily="34" charset="0"/>
                <a:ea typeface="Calibri" pitchFamily="34" charset="-122"/>
                <a:cs typeface="Calibri" pitchFamily="34" charset="-120"/>
              </a:rPr>
              <a:t>SMOTE (optional)</a:t>
            </a:r>
            <a:endParaRPr lang="en-US" sz="1600" dirty="0"/>
          </a:p>
        </p:txBody>
      </p:sp>
      <p:sp>
        <p:nvSpPr>
          <p:cNvPr id="22" name="Text 20"/>
          <p:cNvSpPr txBox="1"/>
          <p:nvPr/>
        </p:nvSpPr>
        <p:spPr>
          <a:xfrm>
            <a:off x="6400800" y="4407408"/>
            <a:ext cx="4846320" cy="868680"/>
          </a:xfrm>
          <a:prstGeom prst="rect">
            <a:avLst/>
          </a:prstGeom>
          <a:noFill/>
          <a:ln/>
        </p:spPr>
        <p:txBody>
          <a:bodyPr wrap="square" lIns="0" tIns="0" rIns="0" bIns="0" rtlCol="0" anchor="t"/>
          <a:lstStyle/>
          <a:p>
            <a:pPr indent="0" marL="0">
              <a:buNone/>
            </a:pPr>
            <a:r>
              <a:rPr lang="en-US" sz="1300" dirty="0">
                <a:solidFill>
                  <a:srgbClr val="5F7488"/>
                </a:solidFill>
                <a:latin typeface="Calibri" pitchFamily="34" charset="0"/>
                <a:ea typeface="Calibri" pitchFamily="34" charset="-122"/>
                <a:cs typeface="Calibri" pitchFamily="34" charset="-120"/>
              </a:rPr>
              <a:t>oversampling applied only inside CV folds, never on the full dataset.</a:t>
            </a:r>
            <a:endParaRPr lang="en-US" sz="1300" dirty="0"/>
          </a:p>
        </p:txBody>
      </p:sp>
      <p:sp>
        <p:nvSpPr>
          <p:cNvPr id="23" name="Text 21"/>
          <p:cNvSpPr txBox="1"/>
          <p:nvPr/>
        </p:nvSpPr>
        <p:spPr>
          <a:xfrm>
            <a:off x="548640" y="6446520"/>
            <a:ext cx="11064240" cy="274320"/>
          </a:xfrm>
          <a:prstGeom prst="rect">
            <a:avLst/>
          </a:prstGeom>
          <a:noFill/>
          <a:ln/>
        </p:spPr>
        <p:txBody>
          <a:bodyPr wrap="square" lIns="0" tIns="0" rIns="0" bIns="0" rtlCol="0" anchor="ctr"/>
          <a:lstStyle/>
          <a:p>
            <a:pPr indent="0" marL="0">
              <a:buNone/>
            </a:pPr>
            <a:r>
              <a:rPr lang="en-US" sz="900" dirty="0">
                <a:solidFill>
                  <a:srgbClr val="5F7488"/>
                </a:solidFill>
                <a:latin typeface="Calibri" pitchFamily="34" charset="0"/>
                <a:ea typeface="Calibri" pitchFamily="34" charset="-122"/>
                <a:cs typeface="Calibri" pitchFamily="34" charset="-120"/>
              </a:rPr>
              <a:t>Fraud Detection  ·  Technical Deck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000" b="1" dirty="0">
                <a:solidFill>
                  <a:srgbClr val="0A2540"/>
                </a:solidFill>
                <a:latin typeface="Cambria" pitchFamily="34" charset="0"/>
                <a:ea typeface="Cambria" pitchFamily="34" charset="-122"/>
                <a:cs typeface="Cambria" pitchFamily="34" charset="-120"/>
              </a:rPr>
              <a:t>Models evaluated</a:t>
            </a:r>
            <a:endParaRPr lang="en-US" sz="3000" dirty="0"/>
          </a:p>
        </p:txBody>
      </p:sp>
      <p:sp>
        <p:nvSpPr>
          <p:cNvPr id="3" name="Text 1"/>
          <p:cNvSpPr txBox="1"/>
          <p:nvPr/>
        </p:nvSpPr>
        <p:spPr>
          <a:xfrm>
            <a:off x="548640" y="1234440"/>
            <a:ext cx="5486400" cy="365760"/>
          </a:xfrm>
          <a:prstGeom prst="rect">
            <a:avLst/>
          </a:prstGeom>
          <a:noFill/>
          <a:ln/>
        </p:spPr>
        <p:txBody>
          <a:bodyPr wrap="square" lIns="0" tIns="0" rIns="0" bIns="0" rtlCol="0" anchor="ctr"/>
          <a:lstStyle/>
          <a:p>
            <a:pPr indent="0" marL="0">
              <a:buNone/>
            </a:pPr>
            <a:r>
              <a:rPr lang="en-US" sz="1500" b="1" dirty="0">
                <a:solidFill>
                  <a:srgbClr val="1C7293"/>
                </a:solidFill>
                <a:latin typeface="Calibri" pitchFamily="34" charset="0"/>
                <a:ea typeface="Calibri" pitchFamily="34" charset="-122"/>
                <a:cs typeface="Calibri" pitchFamily="34" charset="-120"/>
              </a:rPr>
              <a:t>Supervised</a:t>
            </a:r>
            <a:endParaRPr lang="en-US" sz="1500" dirty="0"/>
          </a:p>
        </p:txBody>
      </p:sp>
      <p:sp>
        <p:nvSpPr>
          <p:cNvPr id="4" name="Shape 2"/>
          <p:cNvSpPr/>
          <p:nvPr/>
        </p:nvSpPr>
        <p:spPr>
          <a:xfrm>
            <a:off x="548640" y="1691640"/>
            <a:ext cx="5486400" cy="603504"/>
          </a:xfrm>
          <a:prstGeom prst="roundRect">
            <a:avLst>
              <a:gd name="adj" fmla="val 9091"/>
            </a:avLst>
          </a:prstGeom>
          <a:solidFill>
            <a:srgbClr val="EAF1F5"/>
          </a:solidFill>
          <a:ln/>
        </p:spPr>
      </p:sp>
      <p:sp>
        <p:nvSpPr>
          <p:cNvPr id="5" name="Text 3"/>
          <p:cNvSpPr txBox="1"/>
          <p:nvPr/>
        </p:nvSpPr>
        <p:spPr>
          <a:xfrm>
            <a:off x="822960" y="1691640"/>
            <a:ext cx="4937760" cy="603504"/>
          </a:xfrm>
          <a:prstGeom prst="rect">
            <a:avLst/>
          </a:prstGeom>
          <a:noFill/>
          <a:ln/>
        </p:spPr>
        <p:txBody>
          <a:bodyPr wrap="square" lIns="0" tIns="0" rIns="0" bIns="0" rtlCol="0" anchor="ctr"/>
          <a:lstStyle/>
          <a:p>
            <a:pPr indent="0" marL="0">
              <a:buNone/>
            </a:pPr>
            <a:r>
              <a:rPr lang="en-US" sz="1450" b="1" dirty="0">
                <a:solidFill>
                  <a:srgbClr val="0A2540"/>
                </a:solidFill>
                <a:latin typeface="Calibri" pitchFamily="34" charset="0"/>
                <a:ea typeface="Calibri" pitchFamily="34" charset="-122"/>
                <a:cs typeface="Calibri" pitchFamily="34" charset="-120"/>
              </a:rPr>
              <a:t>Logistic Regression</a:t>
            </a:r>
            <a:endParaRPr lang="en-US" sz="1450" dirty="0"/>
          </a:p>
        </p:txBody>
      </p:sp>
      <p:sp>
        <p:nvSpPr>
          <p:cNvPr id="6" name="Shape 4"/>
          <p:cNvSpPr/>
          <p:nvPr/>
        </p:nvSpPr>
        <p:spPr>
          <a:xfrm>
            <a:off x="548640" y="2441448"/>
            <a:ext cx="5486400" cy="603504"/>
          </a:xfrm>
          <a:prstGeom prst="roundRect">
            <a:avLst>
              <a:gd name="adj" fmla="val 9091"/>
            </a:avLst>
          </a:prstGeom>
          <a:solidFill>
            <a:srgbClr val="EAF1F5"/>
          </a:solidFill>
          <a:ln/>
        </p:spPr>
      </p:sp>
      <p:sp>
        <p:nvSpPr>
          <p:cNvPr id="7" name="Text 5"/>
          <p:cNvSpPr txBox="1"/>
          <p:nvPr/>
        </p:nvSpPr>
        <p:spPr>
          <a:xfrm>
            <a:off x="822960" y="2441448"/>
            <a:ext cx="4937760" cy="603504"/>
          </a:xfrm>
          <a:prstGeom prst="rect">
            <a:avLst/>
          </a:prstGeom>
          <a:noFill/>
          <a:ln/>
        </p:spPr>
        <p:txBody>
          <a:bodyPr wrap="square" lIns="0" tIns="0" rIns="0" bIns="0" rtlCol="0" anchor="ctr"/>
          <a:lstStyle/>
          <a:p>
            <a:pPr indent="0" marL="0">
              <a:buNone/>
            </a:pPr>
            <a:r>
              <a:rPr lang="en-US" sz="1450" b="1" dirty="0">
                <a:solidFill>
                  <a:srgbClr val="0A2540"/>
                </a:solidFill>
                <a:latin typeface="Calibri" pitchFamily="34" charset="0"/>
                <a:ea typeface="Calibri" pitchFamily="34" charset="-122"/>
                <a:cs typeface="Calibri" pitchFamily="34" charset="-120"/>
              </a:rPr>
              <a:t>Decision Tree</a:t>
            </a:r>
            <a:endParaRPr lang="en-US" sz="1450" dirty="0"/>
          </a:p>
        </p:txBody>
      </p:sp>
      <p:sp>
        <p:nvSpPr>
          <p:cNvPr id="8" name="Shape 6"/>
          <p:cNvSpPr/>
          <p:nvPr/>
        </p:nvSpPr>
        <p:spPr>
          <a:xfrm>
            <a:off x="548640" y="3191256"/>
            <a:ext cx="5486400" cy="603504"/>
          </a:xfrm>
          <a:prstGeom prst="roundRect">
            <a:avLst>
              <a:gd name="adj" fmla="val 9091"/>
            </a:avLst>
          </a:prstGeom>
          <a:solidFill>
            <a:srgbClr val="EAF1F5"/>
          </a:solidFill>
          <a:ln/>
        </p:spPr>
      </p:sp>
      <p:sp>
        <p:nvSpPr>
          <p:cNvPr id="9" name="Text 7"/>
          <p:cNvSpPr txBox="1"/>
          <p:nvPr/>
        </p:nvSpPr>
        <p:spPr>
          <a:xfrm>
            <a:off x="822960" y="3191256"/>
            <a:ext cx="4937760" cy="603504"/>
          </a:xfrm>
          <a:prstGeom prst="rect">
            <a:avLst/>
          </a:prstGeom>
          <a:noFill/>
          <a:ln/>
        </p:spPr>
        <p:txBody>
          <a:bodyPr wrap="square" lIns="0" tIns="0" rIns="0" bIns="0" rtlCol="0" anchor="ctr"/>
          <a:lstStyle/>
          <a:p>
            <a:pPr indent="0" marL="0">
              <a:buNone/>
            </a:pPr>
            <a:r>
              <a:rPr lang="en-US" sz="1450" b="1" dirty="0">
                <a:solidFill>
                  <a:srgbClr val="0A2540"/>
                </a:solidFill>
                <a:latin typeface="Calibri" pitchFamily="34" charset="0"/>
                <a:ea typeface="Calibri" pitchFamily="34" charset="-122"/>
                <a:cs typeface="Calibri" pitchFamily="34" charset="-120"/>
              </a:rPr>
              <a:t>Random Forest</a:t>
            </a:r>
            <a:endParaRPr lang="en-US" sz="1450" dirty="0"/>
          </a:p>
        </p:txBody>
      </p:sp>
      <p:sp>
        <p:nvSpPr>
          <p:cNvPr id="10" name="Shape 8"/>
          <p:cNvSpPr/>
          <p:nvPr/>
        </p:nvSpPr>
        <p:spPr>
          <a:xfrm>
            <a:off x="548640" y="3941064"/>
            <a:ext cx="5486400" cy="603504"/>
          </a:xfrm>
          <a:prstGeom prst="roundRect">
            <a:avLst>
              <a:gd name="adj" fmla="val 9091"/>
            </a:avLst>
          </a:prstGeom>
          <a:solidFill>
            <a:srgbClr val="EAF1F5"/>
          </a:solidFill>
          <a:ln/>
        </p:spPr>
      </p:sp>
      <p:sp>
        <p:nvSpPr>
          <p:cNvPr id="11" name="Text 9"/>
          <p:cNvSpPr txBox="1"/>
          <p:nvPr/>
        </p:nvSpPr>
        <p:spPr>
          <a:xfrm>
            <a:off x="822960" y="3941064"/>
            <a:ext cx="4937760" cy="603504"/>
          </a:xfrm>
          <a:prstGeom prst="rect">
            <a:avLst/>
          </a:prstGeom>
          <a:noFill/>
          <a:ln/>
        </p:spPr>
        <p:txBody>
          <a:bodyPr wrap="square" lIns="0" tIns="0" rIns="0" bIns="0" rtlCol="0" anchor="ctr"/>
          <a:lstStyle/>
          <a:p>
            <a:pPr indent="0" marL="0">
              <a:buNone/>
            </a:pPr>
            <a:r>
              <a:rPr lang="en-US" sz="1450" b="1" dirty="0">
                <a:solidFill>
                  <a:srgbClr val="0A2540"/>
                </a:solidFill>
                <a:latin typeface="Calibri" pitchFamily="34" charset="0"/>
                <a:ea typeface="Calibri" pitchFamily="34" charset="-122"/>
                <a:cs typeface="Calibri" pitchFamily="34" charset="-120"/>
              </a:rPr>
              <a:t>XGBoost</a:t>
            </a:r>
            <a:endParaRPr lang="en-US" sz="1450" dirty="0"/>
          </a:p>
        </p:txBody>
      </p:sp>
      <p:sp>
        <p:nvSpPr>
          <p:cNvPr id="12" name="Text 10"/>
          <p:cNvSpPr txBox="1"/>
          <p:nvPr/>
        </p:nvSpPr>
        <p:spPr>
          <a:xfrm>
            <a:off x="6400800" y="1234440"/>
            <a:ext cx="5486400" cy="365760"/>
          </a:xfrm>
          <a:prstGeom prst="rect">
            <a:avLst/>
          </a:prstGeom>
          <a:noFill/>
          <a:ln/>
        </p:spPr>
        <p:txBody>
          <a:bodyPr wrap="square" lIns="0" tIns="0" rIns="0" bIns="0" rtlCol="0" anchor="ctr"/>
          <a:lstStyle/>
          <a:p>
            <a:pPr indent="0" marL="0">
              <a:buNone/>
            </a:pPr>
            <a:r>
              <a:rPr lang="en-US" sz="1500" b="1" dirty="0">
                <a:solidFill>
                  <a:srgbClr val="1C7293"/>
                </a:solidFill>
                <a:latin typeface="Calibri" pitchFamily="34" charset="0"/>
                <a:ea typeface="Calibri" pitchFamily="34" charset="-122"/>
                <a:cs typeface="Calibri" pitchFamily="34" charset="-120"/>
              </a:rPr>
              <a:t>Unsupervised baseline</a:t>
            </a:r>
            <a:endParaRPr lang="en-US" sz="1500" dirty="0"/>
          </a:p>
        </p:txBody>
      </p:sp>
      <p:sp>
        <p:nvSpPr>
          <p:cNvPr id="13" name="Shape 11"/>
          <p:cNvSpPr/>
          <p:nvPr/>
        </p:nvSpPr>
        <p:spPr>
          <a:xfrm>
            <a:off x="6400800" y="1691640"/>
            <a:ext cx="5212080" cy="603504"/>
          </a:xfrm>
          <a:prstGeom prst="roundRect">
            <a:avLst>
              <a:gd name="adj" fmla="val 9091"/>
            </a:avLst>
          </a:prstGeom>
          <a:solidFill>
            <a:srgbClr val="EAF1F5"/>
          </a:solidFill>
          <a:ln/>
        </p:spPr>
      </p:sp>
      <p:sp>
        <p:nvSpPr>
          <p:cNvPr id="14" name="Text 12"/>
          <p:cNvSpPr txBox="1"/>
          <p:nvPr/>
        </p:nvSpPr>
        <p:spPr>
          <a:xfrm>
            <a:off x="6675120" y="1691640"/>
            <a:ext cx="4754880" cy="603504"/>
          </a:xfrm>
          <a:prstGeom prst="rect">
            <a:avLst/>
          </a:prstGeom>
          <a:noFill/>
          <a:ln/>
        </p:spPr>
        <p:txBody>
          <a:bodyPr wrap="square" lIns="0" tIns="0" rIns="0" bIns="0" rtlCol="0" anchor="ctr"/>
          <a:lstStyle/>
          <a:p>
            <a:pPr indent="0" marL="0">
              <a:buNone/>
            </a:pPr>
            <a:r>
              <a:rPr lang="en-US" sz="1450" b="1" dirty="0">
                <a:solidFill>
                  <a:srgbClr val="0A2540"/>
                </a:solidFill>
                <a:latin typeface="Calibri" pitchFamily="34" charset="0"/>
                <a:ea typeface="Calibri" pitchFamily="34" charset="-122"/>
                <a:cs typeface="Calibri" pitchFamily="34" charset="-120"/>
              </a:rPr>
              <a:t>Isolation Forest  (fraud-as-anomaly)</a:t>
            </a:r>
            <a:endParaRPr lang="en-US" sz="1450" dirty="0"/>
          </a:p>
        </p:txBody>
      </p:sp>
      <p:sp>
        <p:nvSpPr>
          <p:cNvPr id="15" name="Shape 13"/>
          <p:cNvSpPr/>
          <p:nvPr/>
        </p:nvSpPr>
        <p:spPr>
          <a:xfrm>
            <a:off x="6400800" y="2606040"/>
            <a:ext cx="5212080" cy="2011680"/>
          </a:xfrm>
          <a:prstGeom prst="roundRect">
            <a:avLst>
              <a:gd name="adj" fmla="val 3636"/>
            </a:avLst>
          </a:prstGeom>
          <a:solidFill>
            <a:srgbClr val="0A2540"/>
          </a:solidFill>
          <a:ln/>
        </p:spPr>
      </p:sp>
      <p:sp>
        <p:nvSpPr>
          <p:cNvPr id="16" name="Text 14"/>
          <p:cNvSpPr txBox="1"/>
          <p:nvPr/>
        </p:nvSpPr>
        <p:spPr>
          <a:xfrm>
            <a:off x="6675120" y="2743200"/>
            <a:ext cx="4663440" cy="1737360"/>
          </a:xfrm>
          <a:prstGeom prst="rect">
            <a:avLst/>
          </a:prstGeom>
          <a:noFill/>
          <a:ln/>
        </p:spPr>
        <p:txBody>
          <a:bodyPr wrap="square" rtlCol="0" anchor="t"/>
          <a:lstStyle/>
          <a:p>
            <a:pPr indent="0" marL="0">
              <a:spcAft>
                <a:spcPts val="800"/>
              </a:spcAft>
              <a:buNone/>
            </a:pPr>
            <a:r>
              <a:rPr lang="en-US" sz="1250" b="1" dirty="0">
                <a:solidFill>
                  <a:srgbClr val="11A398"/>
                </a:solidFill>
                <a:latin typeface="Calibri" pitchFamily="34" charset="0"/>
                <a:ea typeface="Calibri" pitchFamily="34" charset="-122"/>
                <a:cs typeface="Calibri" pitchFamily="34" charset="-120"/>
              </a:rPr>
              <a:t>Scoping decisions</a:t>
            </a:r>
            <a:endParaRPr lang="en-US" sz="1250" dirty="0"/>
          </a:p>
          <a:p>
            <a:pPr indent="0" marL="0">
              <a:spcAft>
                <a:spcPts val="600"/>
              </a:spcAft>
              <a:buNone/>
            </a:pPr>
            <a:r>
              <a:rPr lang="en-US" sz="1250" dirty="0">
                <a:solidFill>
                  <a:srgbClr val="D7E6EE"/>
                </a:solidFill>
                <a:latin typeface="Calibri" pitchFamily="34" charset="0"/>
                <a:ea typeface="Calibri" pitchFamily="34" charset="-122"/>
                <a:cs typeface="Calibri" pitchFamily="34" charset="-120"/>
              </a:rPr>
              <a:t>SVM excluded — kernel SVM doesn’t scale to ~280k rows.</a:t>
            </a:r>
            <a:endParaRPr lang="en-US" sz="1250" dirty="0"/>
          </a:p>
          <a:p>
            <a:pPr indent="0" marL="0">
              <a:spcAft>
                <a:spcPts val="600"/>
              </a:spcAft>
              <a:buNone/>
            </a:pPr>
            <a:r>
              <a:rPr lang="en-US" sz="1250" dirty="0">
                <a:solidFill>
                  <a:srgbClr val="D7E6EE"/>
                </a:solidFill>
                <a:latin typeface="Calibri" pitchFamily="34" charset="0"/>
                <a:ea typeface="Calibri" pitchFamily="34" charset="-122"/>
                <a:cs typeface="Calibri" pitchFamily="34" charset="-120"/>
              </a:rPr>
              <a:t>Deep learning optional — trees dominate tabular data.</a:t>
            </a:r>
            <a:endParaRPr lang="en-US" sz="1250" dirty="0"/>
          </a:p>
          <a:p>
            <a:pPr indent="0" marL="0">
              <a:buNone/>
            </a:pPr>
            <a:r>
              <a:rPr lang="en-US" sz="1250" dirty="0">
                <a:solidFill>
                  <a:srgbClr val="D7E6EE"/>
                </a:solidFill>
                <a:latin typeface="Calibri" pitchFamily="34" charset="0"/>
                <a:ea typeface="Calibri" pitchFamily="34" charset="-122"/>
                <a:cs typeface="Calibri" pitchFamily="34" charset="-120"/>
              </a:rPr>
              <a:t>Recommendation task — not applicable to binary fraud.</a:t>
            </a:r>
            <a:endParaRPr lang="en-US" sz="1250" dirty="0"/>
          </a:p>
        </p:txBody>
      </p:sp>
      <p:sp>
        <p:nvSpPr>
          <p:cNvPr id="17" name="Text 15"/>
          <p:cNvSpPr txBox="1"/>
          <p:nvPr/>
        </p:nvSpPr>
        <p:spPr>
          <a:xfrm>
            <a:off x="548640" y="6446520"/>
            <a:ext cx="11064240" cy="274320"/>
          </a:xfrm>
          <a:prstGeom prst="rect">
            <a:avLst/>
          </a:prstGeom>
          <a:noFill/>
          <a:ln/>
        </p:spPr>
        <p:txBody>
          <a:bodyPr wrap="square" lIns="0" tIns="0" rIns="0" bIns="0" rtlCol="0" anchor="ctr"/>
          <a:lstStyle/>
          <a:p>
            <a:pPr indent="0" marL="0">
              <a:buNone/>
            </a:pPr>
            <a:r>
              <a:rPr lang="en-US" sz="900" dirty="0">
                <a:solidFill>
                  <a:srgbClr val="5F7488"/>
                </a:solidFill>
                <a:latin typeface="Calibri" pitchFamily="34" charset="0"/>
                <a:ea typeface="Calibri" pitchFamily="34" charset="-122"/>
                <a:cs typeface="Calibri" pitchFamily="34" charset="-120"/>
              </a:rPr>
              <a:t>Fraud Detection  ·  Technical Deck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000" b="1" dirty="0">
                <a:solidFill>
                  <a:srgbClr val="0A2540"/>
                </a:solidFill>
                <a:latin typeface="Cambria" pitchFamily="34" charset="0"/>
                <a:ea typeface="Cambria" pitchFamily="34" charset="-122"/>
                <a:cs typeface="Cambria" pitchFamily="34" charset="-120"/>
              </a:rPr>
              <a:t>Results — ranked by AUC-PR</a:t>
            </a:r>
            <a:endParaRPr lang="en-US" sz="3000" dirty="0"/>
          </a:p>
        </p:txBody>
      </p:sp>
      <p:graphicFrame>
        <p:nvGraphicFramePr>
          <p:cNvPr id="3" name="Chart 0" descr=""/>
          <p:cNvGraphicFramePr/>
          <p:nvPr/>
        </p:nvGraphicFramePr>
        <p:xfrm>
          <a:off x="548640" y="137160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772400" y="1828800"/>
            <a:ext cx="3840480" cy="3200400"/>
          </a:xfrm>
          <a:prstGeom prst="rect">
            <a:avLst/>
          </a:prstGeom>
          <a:noFill/>
          <a:ln/>
        </p:spPr>
        <p:txBody>
          <a:bodyPr wrap="square" rtlCol="0" anchor="t"/>
          <a:lstStyle/>
          <a:p>
            <a:pPr indent="0" marL="0">
              <a:spcAft>
                <a:spcPts val="800"/>
              </a:spcAft>
              <a:buNone/>
            </a:pPr>
            <a:r>
              <a:rPr lang="en-US" sz="1350" b="1" dirty="0">
                <a:solidFill>
                  <a:srgbClr val="1C7293"/>
                </a:solidFill>
                <a:latin typeface="Calibri" pitchFamily="34" charset="0"/>
                <a:ea typeface="Calibri" pitchFamily="34" charset="-122"/>
                <a:cs typeface="Calibri" pitchFamily="34" charset="-120"/>
              </a:rPr>
              <a:t>Takeaway</a:t>
            </a:r>
            <a:endParaRPr lang="en-US" sz="1350" dirty="0"/>
          </a:p>
          <a:p>
            <a:pPr indent="0" marL="0">
              <a:spcAft>
                <a:spcPts val="800"/>
              </a:spcAft>
              <a:buNone/>
            </a:pPr>
            <a:r>
              <a:rPr lang="en-US" sz="1350" dirty="0">
                <a:solidFill>
                  <a:srgbClr val="0A2540"/>
                </a:solidFill>
                <a:latin typeface="Calibri" pitchFamily="34" charset="0"/>
                <a:ea typeface="Calibri" pitchFamily="34" charset="-122"/>
                <a:cs typeface="Calibri" pitchFamily="34" charset="-120"/>
              </a:rPr>
              <a:t>Gradient-boosted trees lead. The supervised models vastly outperform the unsupervised Isolation Forest — labels add large value here.</a:t>
            </a:r>
            <a:endParaRPr lang="en-US" sz="1350" dirty="0"/>
          </a:p>
          <a:p>
            <a:pPr indent="0" marL="0">
              <a:buNone/>
            </a:pPr>
            <a:r>
              <a:rPr lang="en-US" sz="1350" dirty="0">
                <a:solidFill>
                  <a:srgbClr val="5F7488"/>
                </a:solidFill>
                <a:latin typeface="Calibri" pitchFamily="34" charset="0"/>
                <a:ea typeface="Calibri" pitchFamily="34" charset="-122"/>
                <a:cs typeface="Calibri" pitchFamily="34" charset="-120"/>
              </a:rPr>
              <a:t>Baseline (random) AUC-PR ≈ 0.0017, so every model beats chance by orders of magnitude.</a:t>
            </a:r>
            <a:endParaRPr lang="en-US" sz="1350" dirty="0"/>
          </a:p>
        </p:txBody>
      </p:sp>
      <p:sp>
        <p:nvSpPr>
          <p:cNvPr id="5" name="Text 2"/>
          <p:cNvSpPr txBox="1"/>
          <p:nvPr/>
        </p:nvSpPr>
        <p:spPr>
          <a:xfrm>
            <a:off x="548640" y="5989320"/>
            <a:ext cx="7315200" cy="274320"/>
          </a:xfrm>
          <a:prstGeom prst="rect">
            <a:avLst/>
          </a:prstGeom>
          <a:noFill/>
          <a:ln/>
        </p:spPr>
        <p:txBody>
          <a:bodyPr wrap="square" lIns="0" tIns="0" rIns="0" bIns="0" rtlCol="0" anchor="ctr"/>
          <a:lstStyle/>
          <a:p>
            <a:pPr indent="0" marL="0">
              <a:buNone/>
            </a:pPr>
            <a:r>
              <a:rPr lang="en-US" sz="950" i="1" dirty="0">
                <a:solidFill>
                  <a:srgbClr val="5F7488"/>
                </a:solidFill>
                <a:latin typeface="Calibri" pitchFamily="34" charset="0"/>
                <a:ea typeface="Calibri" pitchFamily="34" charset="-122"/>
                <a:cs typeface="Calibri" pitchFamily="34" charset="-120"/>
              </a:rPr>
              <a:t>Source: Step 4 model comparison, held-out test set.</a:t>
            </a:r>
            <a:endParaRPr lang="en-US" sz="950" dirty="0"/>
          </a:p>
        </p:txBody>
      </p:sp>
      <p:sp>
        <p:nvSpPr>
          <p:cNvPr id="6" name="Text 3"/>
          <p:cNvSpPr txBox="1"/>
          <p:nvPr/>
        </p:nvSpPr>
        <p:spPr>
          <a:xfrm>
            <a:off x="548640" y="6446520"/>
            <a:ext cx="11064240" cy="274320"/>
          </a:xfrm>
          <a:prstGeom prst="rect">
            <a:avLst/>
          </a:prstGeom>
          <a:noFill/>
          <a:ln/>
        </p:spPr>
        <p:txBody>
          <a:bodyPr wrap="square" lIns="0" tIns="0" rIns="0" bIns="0" rtlCol="0" anchor="ctr"/>
          <a:lstStyle/>
          <a:p>
            <a:pPr indent="0" marL="0">
              <a:buNone/>
            </a:pPr>
            <a:r>
              <a:rPr lang="en-US" sz="900" dirty="0">
                <a:solidFill>
                  <a:srgbClr val="5F7488"/>
                </a:solidFill>
                <a:latin typeface="Calibri" pitchFamily="34" charset="0"/>
                <a:ea typeface="Calibri" pitchFamily="34" charset="-122"/>
                <a:cs typeface="Calibri" pitchFamily="34" charset="-120"/>
              </a:rPr>
              <a:t>Fraud Detection  ·  Technical Deck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000" b="1" dirty="0">
                <a:solidFill>
                  <a:srgbClr val="0A2540"/>
                </a:solidFill>
                <a:latin typeface="Cambria" pitchFamily="34" charset="0"/>
                <a:ea typeface="Cambria" pitchFamily="34" charset="-122"/>
                <a:cs typeface="Cambria" pitchFamily="34" charset="-120"/>
              </a:rPr>
              <a:t>Champion model — operating point</a:t>
            </a:r>
            <a:endParaRPr lang="en-US" sz="3000" dirty="0"/>
          </a:p>
        </p:txBody>
      </p:sp>
      <p:sp>
        <p:nvSpPr>
          <p:cNvPr id="3" name="Shape 1"/>
          <p:cNvSpPr/>
          <p:nvPr/>
        </p:nvSpPr>
        <p:spPr>
          <a:xfrm>
            <a:off x="548640" y="1463040"/>
            <a:ext cx="2514600" cy="1600200"/>
          </a:xfrm>
          <a:prstGeom prst="roundRect">
            <a:avLst>
              <a:gd name="adj" fmla="val 4571"/>
            </a:avLst>
          </a:prstGeom>
          <a:solidFill>
            <a:srgbClr val="EAF1F5"/>
          </a:solidFill>
          <a:ln/>
          <a:effectLst>
            <a:outerShdw sx="100000" sy="100000" kx="0" ky="0" algn="bl" rotWithShape="0" blurRad="76200" dist="25400" dir="5400000">
              <a:srgbClr val="AAB4BF">
                <a:alpha val="35000"/>
              </a:srgbClr>
            </a:outerShdw>
          </a:effectLst>
        </p:spPr>
      </p:sp>
      <p:sp>
        <p:nvSpPr>
          <p:cNvPr id="4" name="Text 2"/>
          <p:cNvSpPr txBox="1"/>
          <p:nvPr/>
        </p:nvSpPr>
        <p:spPr>
          <a:xfrm>
            <a:off x="548640" y="1572768"/>
            <a:ext cx="2514600" cy="928116"/>
          </a:xfrm>
          <a:prstGeom prst="rect">
            <a:avLst/>
          </a:prstGeom>
          <a:noFill/>
          <a:ln/>
        </p:spPr>
        <p:txBody>
          <a:bodyPr wrap="square" lIns="0" tIns="0" rIns="0" bIns="0" rtlCol="0" anchor="ctr"/>
          <a:lstStyle/>
          <a:p>
            <a:pPr algn="ctr" indent="0" marL="0">
              <a:buNone/>
            </a:pPr>
            <a:r>
              <a:rPr lang="en-US" sz="4000" b="1" dirty="0">
                <a:solidFill>
                  <a:srgbClr val="11A398"/>
                </a:solidFill>
                <a:latin typeface="Calibri" pitchFamily="34" charset="0"/>
                <a:ea typeface="Calibri" pitchFamily="34" charset="-122"/>
                <a:cs typeface="Calibri" pitchFamily="34" charset="-120"/>
              </a:rPr>
              <a:t>78%</a:t>
            </a:r>
            <a:endParaRPr lang="en-US" sz="4000" dirty="0"/>
          </a:p>
        </p:txBody>
      </p:sp>
      <p:sp>
        <p:nvSpPr>
          <p:cNvPr id="5" name="Text 3"/>
          <p:cNvSpPr txBox="1"/>
          <p:nvPr/>
        </p:nvSpPr>
        <p:spPr>
          <a:xfrm>
            <a:off x="658368" y="2423160"/>
            <a:ext cx="2295144" cy="544068"/>
          </a:xfrm>
          <a:prstGeom prst="rect">
            <a:avLst/>
          </a:prstGeom>
          <a:noFill/>
          <a:ln/>
        </p:spPr>
        <p:txBody>
          <a:bodyPr wrap="square" lIns="0" tIns="0" rIns="0" bIns="0" rtlCol="0" anchor="ctr"/>
          <a:lstStyle/>
          <a:p>
            <a:pPr algn="ctr" indent="0" marL="0">
              <a:buNone/>
            </a:pPr>
            <a:r>
              <a:rPr lang="en-US" sz="1150" dirty="0">
                <a:solidFill>
                  <a:srgbClr val="5F7488"/>
                </a:solidFill>
                <a:latin typeface="Calibri" pitchFamily="34" charset="0"/>
                <a:ea typeface="Calibri" pitchFamily="34" charset="-122"/>
                <a:cs typeface="Calibri" pitchFamily="34" charset="-120"/>
              </a:rPr>
              <a:t>Recall (fraud caught)</a:t>
            </a:r>
            <a:endParaRPr lang="en-US" sz="1150" dirty="0"/>
          </a:p>
        </p:txBody>
      </p:sp>
      <p:sp>
        <p:nvSpPr>
          <p:cNvPr id="6" name="Shape 4"/>
          <p:cNvSpPr/>
          <p:nvPr/>
        </p:nvSpPr>
        <p:spPr>
          <a:xfrm>
            <a:off x="3337560" y="1463040"/>
            <a:ext cx="2514600" cy="1600200"/>
          </a:xfrm>
          <a:prstGeom prst="roundRect">
            <a:avLst>
              <a:gd name="adj" fmla="val 4571"/>
            </a:avLst>
          </a:prstGeom>
          <a:solidFill>
            <a:srgbClr val="EAF1F5"/>
          </a:solidFill>
          <a:ln/>
          <a:effectLst>
            <a:outerShdw sx="100000" sy="100000" kx="0" ky="0" algn="bl" rotWithShape="0" blurRad="76200" dist="25400" dir="5400000">
              <a:srgbClr val="AAB4BF">
                <a:alpha val="35000"/>
              </a:srgbClr>
            </a:outerShdw>
          </a:effectLst>
        </p:spPr>
      </p:sp>
      <p:sp>
        <p:nvSpPr>
          <p:cNvPr id="7" name="Text 5"/>
          <p:cNvSpPr txBox="1"/>
          <p:nvPr/>
        </p:nvSpPr>
        <p:spPr>
          <a:xfrm>
            <a:off x="3337560" y="1572768"/>
            <a:ext cx="2514600" cy="928116"/>
          </a:xfrm>
          <a:prstGeom prst="rect">
            <a:avLst/>
          </a:prstGeom>
          <a:noFill/>
          <a:ln/>
        </p:spPr>
        <p:txBody>
          <a:bodyPr wrap="square" lIns="0" tIns="0" rIns="0" bIns="0" rtlCol="0" anchor="ctr"/>
          <a:lstStyle/>
          <a:p>
            <a:pPr algn="ctr" indent="0" marL="0">
              <a:buNone/>
            </a:pPr>
            <a:r>
              <a:rPr lang="en-US" sz="4000" b="1" dirty="0">
                <a:solidFill>
                  <a:srgbClr val="1C7293"/>
                </a:solidFill>
                <a:latin typeface="Calibri" pitchFamily="34" charset="0"/>
                <a:ea typeface="Calibri" pitchFamily="34" charset="-122"/>
                <a:cs typeface="Calibri" pitchFamily="34" charset="-120"/>
              </a:rPr>
              <a:t>91%</a:t>
            </a:r>
            <a:endParaRPr lang="en-US" sz="4000" dirty="0"/>
          </a:p>
        </p:txBody>
      </p:sp>
      <p:sp>
        <p:nvSpPr>
          <p:cNvPr id="8" name="Text 6"/>
          <p:cNvSpPr txBox="1"/>
          <p:nvPr/>
        </p:nvSpPr>
        <p:spPr>
          <a:xfrm>
            <a:off x="3447288" y="2423160"/>
            <a:ext cx="2295144" cy="544068"/>
          </a:xfrm>
          <a:prstGeom prst="rect">
            <a:avLst/>
          </a:prstGeom>
          <a:noFill/>
          <a:ln/>
        </p:spPr>
        <p:txBody>
          <a:bodyPr wrap="square" lIns="0" tIns="0" rIns="0" bIns="0" rtlCol="0" anchor="ctr"/>
          <a:lstStyle/>
          <a:p>
            <a:pPr algn="ctr" indent="0" marL="0">
              <a:buNone/>
            </a:pPr>
            <a:r>
              <a:rPr lang="en-US" sz="1150" dirty="0">
                <a:solidFill>
                  <a:srgbClr val="5F7488"/>
                </a:solidFill>
                <a:latin typeface="Calibri" pitchFamily="34" charset="0"/>
                <a:ea typeface="Calibri" pitchFamily="34" charset="-122"/>
                <a:cs typeface="Calibri" pitchFamily="34" charset="-120"/>
              </a:rPr>
              <a:t>Precision (of flags)</a:t>
            </a:r>
            <a:endParaRPr lang="en-US" sz="1150" dirty="0"/>
          </a:p>
        </p:txBody>
      </p:sp>
      <p:sp>
        <p:nvSpPr>
          <p:cNvPr id="9" name="Shape 7"/>
          <p:cNvSpPr/>
          <p:nvPr/>
        </p:nvSpPr>
        <p:spPr>
          <a:xfrm>
            <a:off x="6126480" y="1463040"/>
            <a:ext cx="2514600" cy="1600200"/>
          </a:xfrm>
          <a:prstGeom prst="roundRect">
            <a:avLst>
              <a:gd name="adj" fmla="val 4571"/>
            </a:avLst>
          </a:prstGeom>
          <a:solidFill>
            <a:srgbClr val="EAF1F5"/>
          </a:solidFill>
          <a:ln/>
          <a:effectLst>
            <a:outerShdw sx="100000" sy="100000" kx="0" ky="0" algn="bl" rotWithShape="0" blurRad="76200" dist="25400" dir="5400000">
              <a:srgbClr val="AAB4BF">
                <a:alpha val="35000"/>
              </a:srgbClr>
            </a:outerShdw>
          </a:effectLst>
        </p:spPr>
      </p:sp>
      <p:sp>
        <p:nvSpPr>
          <p:cNvPr id="10" name="Text 8"/>
          <p:cNvSpPr txBox="1"/>
          <p:nvPr/>
        </p:nvSpPr>
        <p:spPr>
          <a:xfrm>
            <a:off x="6126480" y="1572768"/>
            <a:ext cx="2514600" cy="928116"/>
          </a:xfrm>
          <a:prstGeom prst="rect">
            <a:avLst/>
          </a:prstGeom>
          <a:noFill/>
          <a:ln/>
        </p:spPr>
        <p:txBody>
          <a:bodyPr wrap="square" lIns="0" tIns="0" rIns="0" bIns="0" rtlCol="0" anchor="ctr"/>
          <a:lstStyle/>
          <a:p>
            <a:pPr algn="ctr" indent="0" marL="0">
              <a:buNone/>
            </a:pPr>
            <a:r>
              <a:rPr lang="en-US" sz="4000" b="1" dirty="0">
                <a:solidFill>
                  <a:srgbClr val="1C7293"/>
                </a:solidFill>
                <a:latin typeface="Calibri" pitchFamily="34" charset="0"/>
                <a:ea typeface="Calibri" pitchFamily="34" charset="-122"/>
                <a:cs typeface="Calibri" pitchFamily="34" charset="-120"/>
              </a:rPr>
              <a:t>0.80</a:t>
            </a:r>
            <a:endParaRPr lang="en-US" sz="4000" dirty="0"/>
          </a:p>
        </p:txBody>
      </p:sp>
      <p:sp>
        <p:nvSpPr>
          <p:cNvPr id="11" name="Text 9"/>
          <p:cNvSpPr txBox="1"/>
          <p:nvPr/>
        </p:nvSpPr>
        <p:spPr>
          <a:xfrm>
            <a:off x="6236208" y="2423160"/>
            <a:ext cx="2295144" cy="544068"/>
          </a:xfrm>
          <a:prstGeom prst="rect">
            <a:avLst/>
          </a:prstGeom>
          <a:noFill/>
          <a:ln/>
        </p:spPr>
        <p:txBody>
          <a:bodyPr wrap="square" lIns="0" tIns="0" rIns="0" bIns="0" rtlCol="0" anchor="ctr"/>
          <a:lstStyle/>
          <a:p>
            <a:pPr algn="ctr" indent="0" marL="0">
              <a:buNone/>
            </a:pPr>
            <a:r>
              <a:rPr lang="en-US" sz="1150" dirty="0">
                <a:solidFill>
                  <a:srgbClr val="5F7488"/>
                </a:solidFill>
                <a:latin typeface="Calibri" pitchFamily="34" charset="0"/>
                <a:ea typeface="Calibri" pitchFamily="34" charset="-122"/>
                <a:cs typeface="Calibri" pitchFamily="34" charset="-120"/>
              </a:rPr>
              <a:t>F2 score</a:t>
            </a:r>
            <a:endParaRPr lang="en-US" sz="1150" dirty="0"/>
          </a:p>
        </p:txBody>
      </p:sp>
      <p:sp>
        <p:nvSpPr>
          <p:cNvPr id="12" name="Shape 10"/>
          <p:cNvSpPr/>
          <p:nvPr/>
        </p:nvSpPr>
        <p:spPr>
          <a:xfrm>
            <a:off x="8915400" y="1463040"/>
            <a:ext cx="2514600" cy="1600200"/>
          </a:xfrm>
          <a:prstGeom prst="roundRect">
            <a:avLst>
              <a:gd name="adj" fmla="val 4571"/>
            </a:avLst>
          </a:prstGeom>
          <a:solidFill>
            <a:srgbClr val="EAF1F5"/>
          </a:solidFill>
          <a:ln/>
          <a:effectLst>
            <a:outerShdw sx="100000" sy="100000" kx="0" ky="0" algn="bl" rotWithShape="0" blurRad="76200" dist="25400" dir="5400000">
              <a:srgbClr val="AAB4BF">
                <a:alpha val="35000"/>
              </a:srgbClr>
            </a:outerShdw>
          </a:effectLst>
        </p:spPr>
      </p:sp>
      <p:sp>
        <p:nvSpPr>
          <p:cNvPr id="13" name="Text 11"/>
          <p:cNvSpPr txBox="1"/>
          <p:nvPr/>
        </p:nvSpPr>
        <p:spPr>
          <a:xfrm>
            <a:off x="8915400" y="1572768"/>
            <a:ext cx="2514600" cy="928116"/>
          </a:xfrm>
          <a:prstGeom prst="rect">
            <a:avLst/>
          </a:prstGeom>
          <a:noFill/>
          <a:ln/>
        </p:spPr>
        <p:txBody>
          <a:bodyPr wrap="square" lIns="0" tIns="0" rIns="0" bIns="0" rtlCol="0" anchor="ctr"/>
          <a:lstStyle/>
          <a:p>
            <a:pPr algn="ctr" indent="0" marL="0">
              <a:buNone/>
            </a:pPr>
            <a:r>
              <a:rPr lang="en-US" sz="4000" b="1" dirty="0">
                <a:solidFill>
                  <a:srgbClr val="1C7293"/>
                </a:solidFill>
                <a:latin typeface="Calibri" pitchFamily="34" charset="0"/>
                <a:ea typeface="Calibri" pitchFamily="34" charset="-122"/>
                <a:cs typeface="Calibri" pitchFamily="34" charset="-120"/>
              </a:rPr>
              <a:t>0.98</a:t>
            </a:r>
            <a:endParaRPr lang="en-US" sz="4000" dirty="0"/>
          </a:p>
        </p:txBody>
      </p:sp>
      <p:sp>
        <p:nvSpPr>
          <p:cNvPr id="14" name="Text 12"/>
          <p:cNvSpPr txBox="1"/>
          <p:nvPr/>
        </p:nvSpPr>
        <p:spPr>
          <a:xfrm>
            <a:off x="9025128" y="2423160"/>
            <a:ext cx="2295144" cy="544068"/>
          </a:xfrm>
          <a:prstGeom prst="rect">
            <a:avLst/>
          </a:prstGeom>
          <a:noFill/>
          <a:ln/>
        </p:spPr>
        <p:txBody>
          <a:bodyPr wrap="square" lIns="0" tIns="0" rIns="0" bIns="0" rtlCol="0" anchor="ctr"/>
          <a:lstStyle/>
          <a:p>
            <a:pPr algn="ctr" indent="0" marL="0">
              <a:buNone/>
            </a:pPr>
            <a:r>
              <a:rPr lang="en-US" sz="1150" dirty="0">
                <a:solidFill>
                  <a:srgbClr val="5F7488"/>
                </a:solidFill>
                <a:latin typeface="Calibri" pitchFamily="34" charset="0"/>
                <a:ea typeface="Calibri" pitchFamily="34" charset="-122"/>
                <a:cs typeface="Calibri" pitchFamily="34" charset="-120"/>
              </a:rPr>
              <a:t>ROC-AUC</a:t>
            </a:r>
            <a:endParaRPr lang="en-US" sz="1150" dirty="0"/>
          </a:p>
        </p:txBody>
      </p:sp>
      <p:sp>
        <p:nvSpPr>
          <p:cNvPr id="15" name="Text 13"/>
          <p:cNvSpPr txBox="1"/>
          <p:nvPr/>
        </p:nvSpPr>
        <p:spPr>
          <a:xfrm>
            <a:off x="548640" y="3429000"/>
            <a:ext cx="6400800" cy="365760"/>
          </a:xfrm>
          <a:prstGeom prst="rect">
            <a:avLst/>
          </a:prstGeom>
          <a:noFill/>
          <a:ln/>
        </p:spPr>
        <p:txBody>
          <a:bodyPr wrap="square" lIns="0" tIns="0" rIns="0" bIns="0" rtlCol="0" anchor="ctr"/>
          <a:lstStyle/>
          <a:p>
            <a:pPr indent="0" marL="0">
              <a:buNone/>
            </a:pPr>
            <a:r>
              <a:rPr lang="en-US" sz="1400" b="1" dirty="0">
                <a:solidFill>
                  <a:srgbClr val="0A2540"/>
                </a:solidFill>
                <a:latin typeface="Calibri" pitchFamily="34" charset="0"/>
                <a:ea typeface="Calibri" pitchFamily="34" charset="-122"/>
                <a:cs typeface="Calibri" pitchFamily="34" charset="-120"/>
              </a:rPr>
              <a:t>Confusion at the chosen F2 threshold (test set)</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840480"/>
          <a:ext cx="6035040" cy="914400"/>
        </p:xfrm>
        <a:graphic>
          <a:graphicData uri="http://schemas.openxmlformats.org/drawingml/2006/table">
            <a:tbl>
              <a:tblPr/>
              <a:tblGrid>
                <a:gridCol w="2011680"/>
                <a:gridCol w="2011680"/>
                <a:gridCol w="2011680"/>
              </a:tblGrid>
              <a:tr h="566928">
                <a:tc>
                  <a:txBody>
                    <a:bodyPr/>
                    <a:lstStyle/>
                    <a:p>
                      <a:pPr algn="ctr" indent="0" marL="0">
                        <a:buNone/>
                      </a:pP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C729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Pred. legit</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C729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Pred. fraud</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C7293"/>
                    </a:solidFill>
                  </a:tcPr>
                </a:tc>
              </a:tr>
              <a:tr h="56692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Actual legit</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C7293"/>
                    </a:solidFill>
                  </a:tcPr>
                </a:tc>
                <a:tc>
                  <a:txBody>
                    <a:bodyPr/>
                    <a:lstStyle/>
                    <a:p>
                      <a:pPr algn="ctr" indent="0" marL="0">
                        <a:buNone/>
                      </a:pPr>
                      <a:r>
                        <a:rPr lang="en-US" sz="1300" dirty="0">
                          <a:solidFill>
                            <a:srgbClr val="0A2540"/>
                          </a:solidFill>
                          <a:latin typeface="Calibri" pitchFamily="34" charset="0"/>
                          <a:ea typeface="Calibri" pitchFamily="34" charset="-122"/>
                          <a:cs typeface="Calibri" pitchFamily="34" charset="-120"/>
                        </a:rPr>
                        <a:t>TN  56,644</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DEFEA"/>
                    </a:solidFill>
                  </a:tcPr>
                </a:tc>
                <a:tc>
                  <a:txBody>
                    <a:bodyPr/>
                    <a:lstStyle/>
                    <a:p>
                      <a:pPr algn="ctr" indent="0" marL="0">
                        <a:buNone/>
                      </a:pPr>
                      <a:r>
                        <a:rPr lang="en-US" sz="1300" dirty="0">
                          <a:solidFill>
                            <a:srgbClr val="0A2540"/>
                          </a:solidFill>
                          <a:latin typeface="Calibri" pitchFamily="34" charset="0"/>
                          <a:ea typeface="Calibri" pitchFamily="34" charset="-122"/>
                          <a:cs typeface="Calibri" pitchFamily="34" charset="-120"/>
                        </a:rPr>
                        <a:t>FP  7</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A"/>
                    </a:solidFill>
                  </a:tcPr>
                </a:tc>
              </a:tr>
              <a:tr h="56692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Actual fraud</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C7293"/>
                    </a:solidFill>
                  </a:tcPr>
                </a:tc>
                <a:tc>
                  <a:txBody>
                    <a:bodyPr/>
                    <a:lstStyle/>
                    <a:p>
                      <a:pPr algn="ctr" indent="0" marL="0">
                        <a:buNone/>
                      </a:pPr>
                      <a:r>
                        <a:rPr lang="en-US" sz="1300" dirty="0">
                          <a:solidFill>
                            <a:srgbClr val="0A2540"/>
                          </a:solidFill>
                          <a:latin typeface="Calibri" pitchFamily="34" charset="0"/>
                          <a:ea typeface="Calibri" pitchFamily="34" charset="-122"/>
                          <a:cs typeface="Calibri" pitchFamily="34" charset="-120"/>
                        </a:rPr>
                        <a:t>FN  21</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7FA"/>
                    </a:solidFill>
                  </a:tcPr>
                </a:tc>
                <a:tc>
                  <a:txBody>
                    <a:bodyPr/>
                    <a:lstStyle/>
                    <a:p>
                      <a:pPr algn="ctr" indent="0" marL="0">
                        <a:buNone/>
                      </a:pPr>
                      <a:r>
                        <a:rPr lang="en-US" sz="1300" dirty="0">
                          <a:solidFill>
                            <a:srgbClr val="0A2540"/>
                          </a:solidFill>
                          <a:latin typeface="Calibri" pitchFamily="34" charset="0"/>
                          <a:ea typeface="Calibri" pitchFamily="34" charset="-122"/>
                          <a:cs typeface="Calibri" pitchFamily="34" charset="-120"/>
                        </a:rPr>
                        <a:t>TP  74</a:t>
                      </a:r>
                      <a:endParaRPr lang="en-US" sz="1300" dirty="0">
                        <a:latin typeface="Calibri" charset="0"/>
                        <a:ea typeface="Calibri" charset="0"/>
                        <a:cs typeface="Calibri"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DEFEA"/>
                    </a:solidFill>
                  </a:tcPr>
                </a:tc>
              </a:tr>
            </a:tbl>
          </a:graphicData>
        </a:graphic>
      </p:graphicFrame>
      <p:sp>
        <p:nvSpPr>
          <p:cNvPr id="17" name="Text 14"/>
          <p:cNvSpPr txBox="1"/>
          <p:nvPr/>
        </p:nvSpPr>
        <p:spPr>
          <a:xfrm>
            <a:off x="6949440" y="3840480"/>
            <a:ext cx="4663440" cy="1828800"/>
          </a:xfrm>
          <a:prstGeom prst="rect">
            <a:avLst/>
          </a:prstGeom>
          <a:noFill/>
          <a:ln/>
        </p:spPr>
        <p:txBody>
          <a:bodyPr wrap="square" rtlCol="0" anchor="t"/>
          <a:lstStyle/>
          <a:p>
            <a:pPr indent="0" marL="0">
              <a:spcAft>
                <a:spcPts val="800"/>
              </a:spcAft>
              <a:buNone/>
            </a:pPr>
            <a:r>
              <a:rPr lang="en-US" sz="1350" b="1" dirty="0">
                <a:solidFill>
                  <a:srgbClr val="1C7293"/>
                </a:solidFill>
                <a:latin typeface="Calibri" pitchFamily="34" charset="0"/>
                <a:ea typeface="Calibri" pitchFamily="34" charset="-122"/>
                <a:cs typeface="Calibri" pitchFamily="34" charset="-120"/>
              </a:rPr>
              <a:t>Business translation</a:t>
            </a:r>
            <a:endParaRPr lang="en-US" sz="1350" dirty="0"/>
          </a:p>
          <a:p>
            <a:pPr indent="0" marL="0">
              <a:buNone/>
            </a:pPr>
            <a:r>
              <a:rPr lang="en-US" sz="1350" dirty="0">
                <a:solidFill>
                  <a:srgbClr val="0A2540"/>
                </a:solidFill>
                <a:latin typeface="Calibri" pitchFamily="34" charset="0"/>
                <a:ea typeface="Calibri" pitchFamily="34" charset="-122"/>
                <a:cs typeface="Calibri" pitchFamily="34" charset="-120"/>
              </a:rPr>
              <a:t>Of 95 frauds, 74 are caught and 21 slip through. Only 7 legitimate customers are wrongly flagged for review — the friction cost we trade against fraud caught.</a:t>
            </a:r>
            <a:endParaRPr lang="en-US" sz="1350" dirty="0"/>
          </a:p>
        </p:txBody>
      </p:sp>
      <p:sp>
        <p:nvSpPr>
          <p:cNvPr id="18" name="Text 15"/>
          <p:cNvSpPr txBox="1"/>
          <p:nvPr/>
        </p:nvSpPr>
        <p:spPr>
          <a:xfrm>
            <a:off x="548640" y="5989320"/>
            <a:ext cx="7315200" cy="274320"/>
          </a:xfrm>
          <a:prstGeom prst="rect">
            <a:avLst/>
          </a:prstGeom>
          <a:noFill/>
          <a:ln/>
        </p:spPr>
        <p:txBody>
          <a:bodyPr wrap="square" lIns="0" tIns="0" rIns="0" bIns="0" rtlCol="0" anchor="ctr"/>
          <a:lstStyle/>
          <a:p>
            <a:pPr indent="0" marL="0">
              <a:buNone/>
            </a:pPr>
            <a:r>
              <a:rPr lang="en-US" sz="950" i="1" dirty="0">
                <a:solidFill>
                  <a:srgbClr val="5F7488"/>
                </a:solidFill>
                <a:latin typeface="Calibri" pitchFamily="34" charset="0"/>
                <a:ea typeface="Calibri" pitchFamily="34" charset="-122"/>
                <a:cs typeface="Calibri" pitchFamily="34" charset="-120"/>
              </a:rPr>
              <a:t>XGBoost champion, test set at the F2-tuned threshold.</a:t>
            </a:r>
            <a:endParaRPr lang="en-US" sz="950" dirty="0"/>
          </a:p>
        </p:txBody>
      </p:sp>
      <p:sp>
        <p:nvSpPr>
          <p:cNvPr id="19" name="Text 16"/>
          <p:cNvSpPr txBox="1"/>
          <p:nvPr/>
        </p:nvSpPr>
        <p:spPr>
          <a:xfrm>
            <a:off x="548640" y="6446520"/>
            <a:ext cx="11064240" cy="274320"/>
          </a:xfrm>
          <a:prstGeom prst="rect">
            <a:avLst/>
          </a:prstGeom>
          <a:noFill/>
          <a:ln/>
        </p:spPr>
        <p:txBody>
          <a:bodyPr wrap="square" lIns="0" tIns="0" rIns="0" bIns="0" rtlCol="0" anchor="ctr"/>
          <a:lstStyle/>
          <a:p>
            <a:pPr indent="0" marL="0">
              <a:buNone/>
            </a:pPr>
            <a:r>
              <a:rPr lang="en-US" sz="900" dirty="0">
                <a:solidFill>
                  <a:srgbClr val="5F7488"/>
                </a:solidFill>
                <a:latin typeface="Calibri" pitchFamily="34" charset="0"/>
                <a:ea typeface="Calibri" pitchFamily="34" charset="-122"/>
                <a:cs typeface="Calibri" pitchFamily="34" charset="-120"/>
              </a:rPr>
              <a:t>Fraud Detection  ·  Technical Deck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000" b="1" dirty="0">
                <a:solidFill>
                  <a:srgbClr val="0A2540"/>
                </a:solidFill>
                <a:latin typeface="Cambria" pitchFamily="34" charset="0"/>
                <a:ea typeface="Cambria" pitchFamily="34" charset="-122"/>
                <a:cs typeface="Cambria" pitchFamily="34" charset="-120"/>
              </a:rPr>
              <a:t>Explainability &amp; fairness</a:t>
            </a:r>
            <a:endParaRPr lang="en-US" sz="3000" dirty="0"/>
          </a:p>
        </p:txBody>
      </p:sp>
      <p:sp>
        <p:nvSpPr>
          <p:cNvPr id="3" name="Shape 1"/>
          <p:cNvSpPr/>
          <p:nvPr/>
        </p:nvSpPr>
        <p:spPr>
          <a:xfrm>
            <a:off x="548640" y="1417320"/>
            <a:ext cx="5394960" cy="4023360"/>
          </a:xfrm>
          <a:prstGeom prst="roundRect">
            <a:avLst>
              <a:gd name="adj" fmla="val 1818"/>
            </a:avLst>
          </a:prstGeom>
          <a:solidFill>
            <a:srgbClr val="EAF1F5"/>
          </a:solidFill>
          <a:ln/>
        </p:spPr>
      </p:sp>
      <p:sp>
        <p:nvSpPr>
          <p:cNvPr id="4" name="Text 2"/>
          <p:cNvSpPr txBox="1"/>
          <p:nvPr/>
        </p:nvSpPr>
        <p:spPr>
          <a:xfrm>
            <a:off x="822960" y="1600200"/>
            <a:ext cx="4846320" cy="365760"/>
          </a:xfrm>
          <a:prstGeom prst="rect">
            <a:avLst/>
          </a:prstGeom>
          <a:noFill/>
          <a:ln/>
        </p:spPr>
        <p:txBody>
          <a:bodyPr wrap="square" lIns="0" tIns="0" rIns="0" bIns="0" rtlCol="0" anchor="ctr"/>
          <a:lstStyle/>
          <a:p>
            <a:pPr indent="0" marL="0">
              <a:buNone/>
            </a:pPr>
            <a:r>
              <a:rPr lang="en-US" sz="1600" b="1" dirty="0">
                <a:solidFill>
                  <a:srgbClr val="1C7293"/>
                </a:solidFill>
                <a:latin typeface="Calibri" pitchFamily="34" charset="0"/>
                <a:ea typeface="Calibri" pitchFamily="34" charset="-122"/>
                <a:cs typeface="Calibri" pitchFamily="34" charset="-120"/>
              </a:rPr>
              <a:t>Explainability</a:t>
            </a:r>
            <a:endParaRPr lang="en-US" sz="1600" dirty="0"/>
          </a:p>
        </p:txBody>
      </p:sp>
      <p:sp>
        <p:nvSpPr>
          <p:cNvPr id="5" name="Text 3"/>
          <p:cNvSpPr txBox="1"/>
          <p:nvPr/>
        </p:nvSpPr>
        <p:spPr>
          <a:xfrm>
            <a:off x="868680" y="2057400"/>
            <a:ext cx="4800600" cy="3200400"/>
          </a:xfrm>
          <a:prstGeom prst="rect">
            <a:avLst/>
          </a:prstGeom>
          <a:noFill/>
          <a:ln/>
        </p:spPr>
        <p:txBody>
          <a:bodyPr wrap="square" rtlCol="0" anchor="t"/>
          <a:lstStyle/>
          <a:p>
            <a:pPr marL="342900" indent="-342900">
              <a:spcAft>
                <a:spcPts val="800"/>
              </a:spcAft>
              <a:buSzPct val="100000"/>
              <a:buChar char="•"/>
            </a:pPr>
            <a:r>
              <a:rPr lang="en-US" sz="1300" dirty="0">
                <a:solidFill>
                  <a:srgbClr val="0A2540"/>
                </a:solidFill>
                <a:latin typeface="Calibri" pitchFamily="34" charset="0"/>
                <a:ea typeface="Calibri" pitchFamily="34" charset="-122"/>
                <a:cs typeface="Calibri" pitchFamily="34" charset="-120"/>
              </a:rPr>
              <a:t>SHAP — global feature contributions (top: V14, V12, V4, V10).</a:t>
            </a:r>
            <a:endParaRPr lang="en-US" sz="1300" dirty="0"/>
          </a:p>
          <a:p>
            <a:pPr marL="342900" indent="-342900">
              <a:spcAft>
                <a:spcPts val="800"/>
              </a:spcAft>
              <a:buSzPct val="100000"/>
              <a:buChar char="•"/>
            </a:pPr>
            <a:r>
              <a:rPr lang="en-US" sz="1300" dirty="0">
                <a:solidFill>
                  <a:srgbClr val="0A2540"/>
                </a:solidFill>
                <a:latin typeface="Calibri" pitchFamily="34" charset="0"/>
                <a:ea typeface="Calibri" pitchFamily="34" charset="-122"/>
                <a:cs typeface="Calibri" pitchFamily="34" charset="-120"/>
              </a:rPr>
              <a:t>PDP — average effect of a feature on fraud probability.</a:t>
            </a:r>
            <a:endParaRPr lang="en-US" sz="1300" dirty="0"/>
          </a:p>
          <a:p>
            <a:pPr marL="342900" indent="-342900">
              <a:spcAft>
                <a:spcPts val="800"/>
              </a:spcAft>
              <a:buSzPct val="100000"/>
              <a:buChar char="•"/>
            </a:pPr>
            <a:r>
              <a:rPr lang="en-US" sz="1300" dirty="0">
                <a:solidFill>
                  <a:srgbClr val="0A2540"/>
                </a:solidFill>
                <a:latin typeface="Calibri" pitchFamily="34" charset="0"/>
                <a:ea typeface="Calibri" pitchFamily="34" charset="-122"/>
                <a:cs typeface="Calibri" pitchFamily="34" charset="-120"/>
              </a:rPr>
              <a:t>ICE — per-transaction effect; reveals heterogeneity.</a:t>
            </a:r>
            <a:endParaRPr lang="en-US" sz="1300" dirty="0"/>
          </a:p>
          <a:p>
            <a:pPr marL="342900" indent="-342900">
              <a:buSzPct val="100000"/>
              <a:buChar char="•"/>
            </a:pPr>
            <a:r>
              <a:rPr lang="en-US" sz="1300" dirty="0">
                <a:solidFill>
                  <a:srgbClr val="0A2540"/>
                </a:solidFill>
                <a:latin typeface="Calibri" pitchFamily="34" charset="0"/>
                <a:ea typeface="Calibri" pitchFamily="34" charset="-122"/>
                <a:cs typeface="Calibri" pitchFamily="34" charset="-120"/>
              </a:rPr>
              <a:t>LIME — case-level reasons for a single flagged transaction.</a:t>
            </a:r>
            <a:endParaRPr lang="en-US" sz="1300" dirty="0"/>
          </a:p>
        </p:txBody>
      </p:sp>
      <p:sp>
        <p:nvSpPr>
          <p:cNvPr id="6" name="Shape 4"/>
          <p:cNvSpPr/>
          <p:nvPr/>
        </p:nvSpPr>
        <p:spPr>
          <a:xfrm>
            <a:off x="6217920" y="1417320"/>
            <a:ext cx="5394960" cy="4023360"/>
          </a:xfrm>
          <a:prstGeom prst="roundRect">
            <a:avLst>
              <a:gd name="adj" fmla="val 1818"/>
            </a:avLst>
          </a:prstGeom>
          <a:solidFill>
            <a:srgbClr val="0A2540"/>
          </a:solidFill>
          <a:ln/>
        </p:spPr>
      </p:sp>
      <p:sp>
        <p:nvSpPr>
          <p:cNvPr id="7" name="Text 5"/>
          <p:cNvSpPr txBox="1"/>
          <p:nvPr/>
        </p:nvSpPr>
        <p:spPr>
          <a:xfrm>
            <a:off x="6492240" y="1600200"/>
            <a:ext cx="4846320" cy="365760"/>
          </a:xfrm>
          <a:prstGeom prst="rect">
            <a:avLst/>
          </a:prstGeom>
          <a:noFill/>
          <a:ln/>
        </p:spPr>
        <p:txBody>
          <a:bodyPr wrap="square" lIns="0" tIns="0" rIns="0" bIns="0" rtlCol="0" anchor="ctr"/>
          <a:lstStyle/>
          <a:p>
            <a:pPr indent="0" marL="0">
              <a:buNone/>
            </a:pPr>
            <a:r>
              <a:rPr lang="en-US" sz="1600" b="1" dirty="0">
                <a:solidFill>
                  <a:srgbClr val="11A398"/>
                </a:solidFill>
                <a:latin typeface="Calibri" pitchFamily="34" charset="0"/>
                <a:ea typeface="Calibri" pitchFamily="34" charset="-122"/>
                <a:cs typeface="Calibri" pitchFamily="34" charset="-120"/>
              </a:rPr>
              <a:t>Fairness — the honest finding</a:t>
            </a:r>
            <a:endParaRPr lang="en-US" sz="1600" dirty="0"/>
          </a:p>
        </p:txBody>
      </p:sp>
      <p:sp>
        <p:nvSpPr>
          <p:cNvPr id="8" name="Text 6"/>
          <p:cNvSpPr txBox="1"/>
          <p:nvPr/>
        </p:nvSpPr>
        <p:spPr>
          <a:xfrm>
            <a:off x="6492240" y="2057400"/>
            <a:ext cx="4846320" cy="3200400"/>
          </a:xfrm>
          <a:prstGeom prst="rect">
            <a:avLst/>
          </a:prstGeom>
          <a:noFill/>
          <a:ln/>
        </p:spPr>
        <p:txBody>
          <a:bodyPr wrap="square" rtlCol="0" anchor="t"/>
          <a:lstStyle/>
          <a:p>
            <a:pPr indent="0" marL="0">
              <a:spcAft>
                <a:spcPts val="1000"/>
              </a:spcAft>
              <a:buNone/>
            </a:pPr>
            <a:r>
              <a:rPr lang="en-US" sz="1250" dirty="0">
                <a:solidFill>
                  <a:srgbClr val="D7E6EE"/>
                </a:solidFill>
                <a:latin typeface="Calibri" pitchFamily="34" charset="0"/>
                <a:ea typeface="Calibri" pitchFamily="34" charset="-122"/>
                <a:cs typeface="Calibri" pitchFamily="34" charset="-120"/>
              </a:rPr>
              <a:t>The dataset has no sensitive attributes (no gender, race, age). A true demographic fairness audit is impossible — itself an ethical finding.</a:t>
            </a:r>
            <a:endParaRPr lang="en-US" sz="1250" dirty="0"/>
          </a:p>
          <a:p>
            <a:pPr indent="0" marL="0">
              <a:spcAft>
                <a:spcPts val="1000"/>
              </a:spcAft>
              <a:buNone/>
            </a:pPr>
            <a:r>
              <a:rPr lang="en-US" sz="1250" dirty="0">
                <a:solidFill>
                  <a:srgbClr val="D7E6EE"/>
                </a:solidFill>
                <a:latin typeface="Calibri" pitchFamily="34" charset="0"/>
                <a:ea typeface="Calibri" pitchFamily="34" charset="-122"/>
                <a:cs typeface="Calibri" pitchFamily="34" charset="-120"/>
              </a:rPr>
              <a:t>On a declared Amount proxy the model shows no major disparity: disparate impact 0.863 (PASS), equal false-alarm rates, a small catch-rate gap.</a:t>
            </a:r>
            <a:endParaRPr lang="en-US" sz="1250" dirty="0"/>
          </a:p>
          <a:p>
            <a:pPr indent="0" marL="0">
              <a:buNone/>
            </a:pPr>
            <a:r>
              <a:rPr lang="en-US" sz="1250" dirty="0">
                <a:solidFill>
                  <a:srgbClr val="D7E6EE"/>
                </a:solidFill>
                <a:latin typeface="Calibri" pitchFamily="34" charset="0"/>
                <a:ea typeface="Calibri" pitchFamily="34" charset="-122"/>
                <a:cs typeface="Calibri" pitchFamily="34" charset="-120"/>
              </a:rPr>
              <a:t>Production fix: collect lawful, consented attributes and monitor group flag-rates.</a:t>
            </a:r>
            <a:endParaRPr lang="en-US" sz="1250" dirty="0"/>
          </a:p>
        </p:txBody>
      </p:sp>
      <p:sp>
        <p:nvSpPr>
          <p:cNvPr id="9" name="Text 7"/>
          <p:cNvSpPr txBox="1"/>
          <p:nvPr/>
        </p:nvSpPr>
        <p:spPr>
          <a:xfrm>
            <a:off x="548640" y="6446520"/>
            <a:ext cx="11064240" cy="274320"/>
          </a:xfrm>
          <a:prstGeom prst="rect">
            <a:avLst/>
          </a:prstGeom>
          <a:noFill/>
          <a:ln/>
        </p:spPr>
        <p:txBody>
          <a:bodyPr wrap="square" lIns="0" tIns="0" rIns="0" bIns="0" rtlCol="0" anchor="ctr"/>
          <a:lstStyle/>
          <a:p>
            <a:pPr indent="0" marL="0">
              <a:buNone/>
            </a:pPr>
            <a:r>
              <a:rPr lang="en-US" sz="900" dirty="0">
                <a:solidFill>
                  <a:srgbClr val="5F7488"/>
                </a:solidFill>
                <a:latin typeface="Calibri" pitchFamily="34" charset="0"/>
                <a:ea typeface="Calibri" pitchFamily="34" charset="-122"/>
                <a:cs typeface="Calibri" pitchFamily="34" charset="-120"/>
              </a:rPr>
              <a:t>Fraud Detection  ·  Technical Deck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2540"/>
        </a:solidFill>
      </p:bgPr>
    </p:bg>
    <p:spTree>
      <p:nvGrpSpPr>
        <p:cNvPr id="1" name=""/>
        <p:cNvGrpSpPr/>
        <p:nvPr/>
      </p:nvGrpSpPr>
      <p:grpSpPr>
        <a:xfrm>
          <a:off x="0" y="0"/>
          <a:ext cx="0" cy="0"/>
          <a:chOff x="0" y="0"/>
          <a:chExt cx="0" cy="0"/>
        </a:xfrm>
      </p:grpSpPr>
      <p:sp>
        <p:nvSpPr>
          <p:cNvPr id="2" name="Text 0"/>
          <p:cNvSpPr txBox="1"/>
          <p:nvPr/>
        </p:nvSpPr>
        <p:spPr>
          <a:xfrm>
            <a:off x="640080" y="548640"/>
            <a:ext cx="109728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Limitations &amp; next steps</a:t>
            </a:r>
            <a:endParaRPr lang="en-US" sz="3000" dirty="0"/>
          </a:p>
        </p:txBody>
      </p:sp>
      <p:sp>
        <p:nvSpPr>
          <p:cNvPr id="3" name="Text 1"/>
          <p:cNvSpPr txBox="1"/>
          <p:nvPr/>
        </p:nvSpPr>
        <p:spPr>
          <a:xfrm>
            <a:off x="640080" y="1554480"/>
            <a:ext cx="5303520" cy="411480"/>
          </a:xfrm>
          <a:prstGeom prst="rect">
            <a:avLst/>
          </a:prstGeom>
          <a:noFill/>
          <a:ln/>
        </p:spPr>
        <p:txBody>
          <a:bodyPr wrap="square" lIns="0" tIns="0" rIns="0" bIns="0" rtlCol="0" anchor="ctr"/>
          <a:lstStyle/>
          <a:p>
            <a:pPr indent="0" marL="0">
              <a:buNone/>
            </a:pPr>
            <a:r>
              <a:rPr lang="en-US" sz="1800" b="1" dirty="0">
                <a:solidFill>
                  <a:srgbClr val="11A398"/>
                </a:solidFill>
                <a:latin typeface="Calibri" pitchFamily="34" charset="0"/>
                <a:ea typeface="Calibri" pitchFamily="34" charset="-122"/>
                <a:cs typeface="Calibri" pitchFamily="34" charset="-120"/>
              </a:rPr>
              <a:t>Limitations</a:t>
            </a:r>
            <a:endParaRPr lang="en-US" sz="1800" dirty="0"/>
          </a:p>
        </p:txBody>
      </p:sp>
      <p:sp>
        <p:nvSpPr>
          <p:cNvPr id="4" name="Text 2"/>
          <p:cNvSpPr txBox="1"/>
          <p:nvPr/>
        </p:nvSpPr>
        <p:spPr>
          <a:xfrm>
            <a:off x="685800" y="2057400"/>
            <a:ext cx="5212080" cy="2743200"/>
          </a:xfrm>
          <a:prstGeom prst="rect">
            <a:avLst/>
          </a:prstGeom>
          <a:noFill/>
          <a:ln/>
        </p:spPr>
        <p:txBody>
          <a:bodyPr wrap="square" rtlCol="0" anchor="t"/>
          <a:lstStyle/>
          <a:p>
            <a:pPr marL="342900" indent="-342900">
              <a:spcAft>
                <a:spcPts val="1000"/>
              </a:spcAft>
              <a:buSzPct val="100000"/>
              <a:buChar char="•"/>
            </a:pPr>
            <a:r>
              <a:rPr lang="en-US" sz="1400" dirty="0">
                <a:solidFill>
                  <a:srgbClr val="D7E6EE"/>
                </a:solidFill>
                <a:latin typeface="Calibri" pitchFamily="34" charset="0"/>
                <a:ea typeface="Calibri" pitchFamily="34" charset="-122"/>
                <a:cs typeface="Calibri" pitchFamily="34" charset="-120"/>
              </a:rPr>
              <a:t>Anonymised features limit interpretability.</a:t>
            </a:r>
            <a:endParaRPr lang="en-US" sz="1400" dirty="0"/>
          </a:p>
          <a:p>
            <a:pPr marL="342900" indent="-342900">
              <a:spcAft>
                <a:spcPts val="1000"/>
              </a:spcAft>
              <a:buSzPct val="100000"/>
              <a:buChar char="•"/>
            </a:pPr>
            <a:r>
              <a:rPr lang="en-US" sz="1400" dirty="0">
                <a:solidFill>
                  <a:srgbClr val="D7E6EE"/>
                </a:solidFill>
                <a:latin typeface="Calibri" pitchFamily="34" charset="0"/>
                <a:ea typeface="Calibri" pitchFamily="34" charset="-122"/>
                <a:cs typeface="Calibri" pitchFamily="34" charset="-120"/>
              </a:rPr>
              <a:t>No demographic data for a real fairness audit.</a:t>
            </a:r>
            <a:endParaRPr lang="en-US" sz="1400" dirty="0"/>
          </a:p>
          <a:p>
            <a:pPr marL="342900" indent="-342900">
              <a:spcAft>
                <a:spcPts val="1000"/>
              </a:spcAft>
              <a:buSzPct val="100000"/>
              <a:buChar char="•"/>
            </a:pPr>
            <a:r>
              <a:rPr lang="en-US" sz="1400" dirty="0">
                <a:solidFill>
                  <a:srgbClr val="D7E6EE"/>
                </a:solidFill>
                <a:latin typeface="Calibri" pitchFamily="34" charset="0"/>
                <a:ea typeface="Calibri" pitchFamily="34" charset="-122"/>
                <a:cs typeface="Calibri" pitchFamily="34" charset="-120"/>
              </a:rPr>
              <a:t>Two days of 2013 data — may not generalise.</a:t>
            </a:r>
            <a:endParaRPr lang="en-US" sz="1400" dirty="0"/>
          </a:p>
        </p:txBody>
      </p:sp>
      <p:sp>
        <p:nvSpPr>
          <p:cNvPr id="5" name="Text 3"/>
          <p:cNvSpPr txBox="1"/>
          <p:nvPr/>
        </p:nvSpPr>
        <p:spPr>
          <a:xfrm>
            <a:off x="6400800" y="1554480"/>
            <a:ext cx="5303520" cy="411480"/>
          </a:xfrm>
          <a:prstGeom prst="rect">
            <a:avLst/>
          </a:prstGeom>
          <a:noFill/>
          <a:ln/>
        </p:spPr>
        <p:txBody>
          <a:bodyPr wrap="square" lIns="0" tIns="0" rIns="0" bIns="0" rtlCol="0" anchor="ctr"/>
          <a:lstStyle/>
          <a:p>
            <a:pPr indent="0" marL="0">
              <a:buNone/>
            </a:pPr>
            <a:r>
              <a:rPr lang="en-US" sz="1800" b="1" dirty="0">
                <a:solidFill>
                  <a:srgbClr val="11A398"/>
                </a:solidFill>
                <a:latin typeface="Calibri" pitchFamily="34" charset="0"/>
                <a:ea typeface="Calibri" pitchFamily="34" charset="-122"/>
                <a:cs typeface="Calibri" pitchFamily="34" charset="-120"/>
              </a:rPr>
              <a:t>Next steps</a:t>
            </a:r>
            <a:endParaRPr lang="en-US" sz="1800" dirty="0"/>
          </a:p>
        </p:txBody>
      </p:sp>
      <p:sp>
        <p:nvSpPr>
          <p:cNvPr id="6" name="Text 4"/>
          <p:cNvSpPr txBox="1"/>
          <p:nvPr/>
        </p:nvSpPr>
        <p:spPr>
          <a:xfrm>
            <a:off x="6446520" y="2057400"/>
            <a:ext cx="5212080" cy="2743200"/>
          </a:xfrm>
          <a:prstGeom prst="rect">
            <a:avLst/>
          </a:prstGeom>
          <a:noFill/>
          <a:ln/>
        </p:spPr>
        <p:txBody>
          <a:bodyPr wrap="square" rtlCol="0" anchor="t"/>
          <a:lstStyle/>
          <a:p>
            <a:pPr marL="342900" indent="-342900">
              <a:spcAft>
                <a:spcPts val="1000"/>
              </a:spcAft>
              <a:buSzPct val="100000"/>
              <a:buChar char="•"/>
            </a:pPr>
            <a:r>
              <a:rPr lang="en-US" sz="1400" dirty="0">
                <a:solidFill>
                  <a:srgbClr val="D7E6EE"/>
                </a:solidFill>
                <a:latin typeface="Calibri" pitchFamily="34" charset="0"/>
                <a:ea typeface="Calibri" pitchFamily="34" charset="-122"/>
                <a:cs typeface="Calibri" pitchFamily="34" charset="-120"/>
              </a:rPr>
              <a:t>Deploy in shadow mode; monitor drift.</a:t>
            </a:r>
            <a:endParaRPr lang="en-US" sz="1400" dirty="0"/>
          </a:p>
          <a:p>
            <a:pPr marL="342900" indent="-342900">
              <a:spcAft>
                <a:spcPts val="1000"/>
              </a:spcAft>
              <a:buSzPct val="100000"/>
              <a:buChar char="•"/>
            </a:pPr>
            <a:r>
              <a:rPr lang="en-US" sz="1400" dirty="0">
                <a:solidFill>
                  <a:srgbClr val="D7E6EE"/>
                </a:solidFill>
                <a:latin typeface="Calibri" pitchFamily="34" charset="0"/>
                <a:ea typeface="Calibri" pitchFamily="34" charset="-122"/>
                <a:cs typeface="Calibri" pitchFamily="34" charset="-120"/>
              </a:rPr>
              <a:t>Add consented features; re-audit fairness.</a:t>
            </a:r>
            <a:endParaRPr lang="en-US" sz="1400" dirty="0"/>
          </a:p>
          <a:p>
            <a:pPr marL="342900" indent="-342900">
              <a:spcAft>
                <a:spcPts val="1000"/>
              </a:spcAft>
              <a:buSzPct val="100000"/>
              <a:buChar char="•"/>
            </a:pPr>
            <a:r>
              <a:rPr lang="en-US" sz="1400" dirty="0">
                <a:solidFill>
                  <a:srgbClr val="D7E6EE"/>
                </a:solidFill>
                <a:latin typeface="Calibri" pitchFamily="34" charset="0"/>
                <a:ea typeface="Calibri" pitchFamily="34" charset="-122"/>
                <a:cs typeface="Calibri" pitchFamily="34" charset="-120"/>
              </a:rPr>
              <a:t>Cost-sensitive threshold tied to real $ values.</a:t>
            </a:r>
            <a:endParaRPr lang="en-US" sz="1400" dirty="0"/>
          </a:p>
        </p:txBody>
      </p:sp>
      <p:sp>
        <p:nvSpPr>
          <p:cNvPr id="7" name="Text 5"/>
          <p:cNvSpPr txBox="1"/>
          <p:nvPr/>
        </p:nvSpPr>
        <p:spPr>
          <a:xfrm>
            <a:off x="640080" y="5120640"/>
            <a:ext cx="10972800" cy="548640"/>
          </a:xfrm>
          <a:prstGeom prst="rect">
            <a:avLst/>
          </a:prstGeom>
          <a:noFill/>
          <a:ln/>
        </p:spPr>
        <p:txBody>
          <a:bodyPr wrap="square" lIns="0" tIns="0" rIns="0" bIns="0" rtlCol="0" anchor="ctr"/>
          <a:lstStyle/>
          <a:p>
            <a:pPr indent="0" marL="0">
              <a:buNone/>
            </a:pPr>
            <a:r>
              <a:rPr lang="en-US" sz="1350" i="1" dirty="0">
                <a:solidFill>
                  <a:srgbClr val="9FC6D8"/>
                </a:solidFill>
                <a:latin typeface="Calibri" pitchFamily="34" charset="0"/>
                <a:ea typeface="Calibri" pitchFamily="34" charset="-122"/>
                <a:cs typeface="Calibri" pitchFamily="34" charset="-120"/>
              </a:rPr>
              <a:t>AUC-PR is the headline. Leakage discipline is the backbone. Honesty about fairness is the differentiator.</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 Detection — Technical</dc:title>
  <dc:subject>PptxGenJS Presentation</dc:subject>
  <dc:creator>Capstone</dc:creator>
  <cp:lastModifiedBy>Capstone</cp:lastModifiedBy>
  <cp:revision>1</cp:revision>
  <dcterms:created xsi:type="dcterms:W3CDTF">2026-10-04T20:04:34Z</dcterms:created>
  <dcterms:modified xsi:type="dcterms:W3CDTF">2026-10-04T20:04:34Z</dcterms:modified>
</cp:coreProperties>
</file>